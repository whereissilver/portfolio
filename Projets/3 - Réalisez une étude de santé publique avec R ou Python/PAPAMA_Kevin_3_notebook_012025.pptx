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9144000"/>
  <p:embeddedFontLst>
    <p:embeddedFont>
      <p:font typeface="Century Gothic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font" Target="fonts/CenturyGothic-bold.fntdata"/><Relationship Id="rId10" Type="http://schemas.openxmlformats.org/officeDocument/2006/relationships/slide" Target="slides/slide6.xml"/><Relationship Id="rId21" Type="http://schemas.openxmlformats.org/officeDocument/2006/relationships/font" Target="fonts/CenturyGothic-regular.fntdata"/><Relationship Id="rId13" Type="http://schemas.openxmlformats.org/officeDocument/2006/relationships/slide" Target="slides/slide9.xml"/><Relationship Id="rId24" Type="http://schemas.openxmlformats.org/officeDocument/2006/relationships/font" Target="fonts/CenturyGothic-boldItalic.fntdata"/><Relationship Id="rId12" Type="http://schemas.openxmlformats.org/officeDocument/2006/relationships/slide" Target="slides/slide8.xml"/><Relationship Id="rId23" Type="http://schemas.openxmlformats.org/officeDocument/2006/relationships/font" Target="fonts/CenturyGothic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346d88d38b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346d88d38b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346d88d38b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0" y="-3175"/>
            <a:ext cx="12192000" cy="5203825"/>
          </a:xfrm>
          <a:custGeom>
            <a:rect b="b" l="l" r="r" t="t"/>
            <a:pathLst>
              <a:path extrusionOk="0" h="3278" w="5760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2"/>
          <p:cNvSpPr txBox="1"/>
          <p:nvPr>
            <p:ph type="ctrTitle"/>
          </p:nvPr>
        </p:nvSpPr>
        <p:spPr>
          <a:xfrm>
            <a:off x="810001" y="144914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810001" y="5280847"/>
            <a:ext cx="10572000" cy="43497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3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" type="body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-tête de section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0" y="1"/>
            <a:ext cx="12192000" cy="5203825"/>
          </a:xfrm>
          <a:custGeom>
            <a:rect b="b" l="l" r="r" t="t"/>
            <a:pathLst>
              <a:path extrusionOk="0" h="3278" w="5760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4"/>
          <p:cNvSpPr txBox="1"/>
          <p:nvPr>
            <p:ph type="title"/>
          </p:nvPr>
        </p:nvSpPr>
        <p:spPr>
          <a:xfrm>
            <a:off x="810000" y="2951396"/>
            <a:ext cx="10561418" cy="1468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entury Gothic"/>
              <a:buNone/>
              <a:defRPr b="1" sz="48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810000" y="5281201"/>
            <a:ext cx="10561418" cy="43395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5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818712" y="2222287"/>
            <a:ext cx="5185873" cy="36387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body"/>
          </p:nvPr>
        </p:nvSpPr>
        <p:spPr>
          <a:xfrm>
            <a:off x="6187415" y="2222287"/>
            <a:ext cx="5194583" cy="363876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6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" type="body"/>
          </p:nvPr>
        </p:nvSpPr>
        <p:spPr>
          <a:xfrm>
            <a:off x="814728" y="2174875"/>
            <a:ext cx="5189857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0" sz="20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6"/>
          <p:cNvSpPr txBox="1"/>
          <p:nvPr>
            <p:ph idx="2" type="body"/>
          </p:nvPr>
        </p:nvSpPr>
        <p:spPr>
          <a:xfrm>
            <a:off x="814729" y="2751138"/>
            <a:ext cx="5189856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body"/>
          </p:nvPr>
        </p:nvSpPr>
        <p:spPr>
          <a:xfrm>
            <a:off x="6187415" y="2174875"/>
            <a:ext cx="5194583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0" sz="20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6"/>
          <p:cNvSpPr txBox="1"/>
          <p:nvPr>
            <p:ph idx="4" type="body"/>
          </p:nvPr>
        </p:nvSpPr>
        <p:spPr>
          <a:xfrm>
            <a:off x="6187415" y="2751138"/>
            <a:ext cx="5194583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uniquement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7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/>
          <p:nvPr/>
        </p:nvSpPr>
        <p:spPr>
          <a:xfrm>
            <a:off x="1073151" y="446087"/>
            <a:ext cx="3547533" cy="1814651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9"/>
          <p:cNvSpPr txBox="1"/>
          <p:nvPr>
            <p:ph type="title"/>
          </p:nvPr>
        </p:nvSpPr>
        <p:spPr>
          <a:xfrm>
            <a:off x="1073151" y="446088"/>
            <a:ext cx="3547533" cy="1618396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000"/>
              <a:buFont typeface="Century Gothic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" type="body"/>
          </p:nvPr>
        </p:nvSpPr>
        <p:spPr>
          <a:xfrm>
            <a:off x="4855633" y="446088"/>
            <a:ext cx="6252633" cy="54149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1073151" y="2260738"/>
            <a:ext cx="3547533" cy="36003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9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/>
          <p:nvPr>
            <p:ph type="title"/>
          </p:nvPr>
        </p:nvSpPr>
        <p:spPr>
          <a:xfrm>
            <a:off x="814728" y="727522"/>
            <a:ext cx="4852988" cy="16171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"/>
          <p:cNvSpPr/>
          <p:nvPr>
            <p:ph idx="2" type="pic"/>
          </p:nvPr>
        </p:nvSpPr>
        <p:spPr>
          <a:xfrm>
            <a:off x="6098117" y="0"/>
            <a:ext cx="6093883" cy="68580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75" name="Google Shape;75;p10"/>
          <p:cNvSpPr txBox="1"/>
          <p:nvPr>
            <p:ph idx="1" type="body"/>
          </p:nvPr>
        </p:nvSpPr>
        <p:spPr>
          <a:xfrm>
            <a:off x="814728" y="2344684"/>
            <a:ext cx="4852988" cy="35163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6" name="Google Shape;76;p10"/>
          <p:cNvSpPr txBox="1"/>
          <p:nvPr>
            <p:ph idx="10" type="dt"/>
          </p:nvPr>
        </p:nvSpPr>
        <p:spPr>
          <a:xfrm>
            <a:off x="3885810" y="6041362"/>
            <a:ext cx="9768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0"/>
          <p:cNvSpPr txBox="1"/>
          <p:nvPr>
            <p:ph idx="11" type="ftr"/>
          </p:nvPr>
        </p:nvSpPr>
        <p:spPr>
          <a:xfrm>
            <a:off x="590396" y="6041362"/>
            <a:ext cx="32954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0"/>
          <p:cNvSpPr txBox="1"/>
          <p:nvPr>
            <p:ph idx="12" type="sldNum"/>
          </p:nvPr>
        </p:nvSpPr>
        <p:spPr>
          <a:xfrm>
            <a:off x="4862689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panoramique avec légende">
  <p:cSld name="Image panoramique avec légende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 txBox="1"/>
          <p:nvPr>
            <p:ph type="title"/>
          </p:nvPr>
        </p:nvSpPr>
        <p:spPr>
          <a:xfrm>
            <a:off x="810000" y="4800600"/>
            <a:ext cx="10561418" cy="56673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1"/>
          <p:cNvSpPr/>
          <p:nvPr>
            <p:ph idx="2" type="pic"/>
          </p:nvPr>
        </p:nvSpPr>
        <p:spPr>
          <a:xfrm>
            <a:off x="0" y="0"/>
            <a:ext cx="12192000" cy="4800600"/>
          </a:xfrm>
          <a:prstGeom prst="rect">
            <a:avLst/>
          </a:prstGeom>
          <a:noFill/>
          <a:ln cap="rnd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82" name="Google Shape;82;p11"/>
          <p:cNvSpPr txBox="1"/>
          <p:nvPr>
            <p:ph idx="1" type="body"/>
          </p:nvPr>
        </p:nvSpPr>
        <p:spPr>
          <a:xfrm>
            <a:off x="810000" y="5367338"/>
            <a:ext cx="10561418" cy="4937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3" name="Google Shape;83;p11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1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tion avec légende">
  <p:cSld name="Citation avec légende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2"/>
          <p:cNvSpPr/>
          <p:nvPr/>
        </p:nvSpPr>
        <p:spPr>
          <a:xfrm>
            <a:off x="631697" y="1081456"/>
            <a:ext cx="6332416" cy="3239188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2"/>
          <p:cNvSpPr txBox="1"/>
          <p:nvPr>
            <p:ph type="title"/>
          </p:nvPr>
        </p:nvSpPr>
        <p:spPr>
          <a:xfrm>
            <a:off x="850985" y="1238502"/>
            <a:ext cx="5893840" cy="26459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200"/>
              <a:buFont typeface="Century Gothic"/>
              <a:buNone/>
              <a:defRPr b="1" sz="4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2"/>
          <p:cNvSpPr txBox="1"/>
          <p:nvPr>
            <p:ph idx="1" type="body"/>
          </p:nvPr>
        </p:nvSpPr>
        <p:spPr>
          <a:xfrm>
            <a:off x="853190" y="4443680"/>
            <a:ext cx="5891636" cy="71324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12"/>
          <p:cNvSpPr txBox="1"/>
          <p:nvPr>
            <p:ph idx="2" type="body"/>
          </p:nvPr>
        </p:nvSpPr>
        <p:spPr>
          <a:xfrm>
            <a:off x="7574642" y="1081456"/>
            <a:ext cx="3810001" cy="40754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91" name="Google Shape;91;p12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2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2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te de nom">
  <p:cSld name="Carte de nom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/>
          <p:nvPr/>
        </p:nvSpPr>
        <p:spPr>
          <a:xfrm>
            <a:off x="1140884" y="2286585"/>
            <a:ext cx="4895115" cy="2503972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13"/>
          <p:cNvSpPr txBox="1"/>
          <p:nvPr>
            <p:ph type="title"/>
          </p:nvPr>
        </p:nvSpPr>
        <p:spPr>
          <a:xfrm>
            <a:off x="1357089" y="2435957"/>
            <a:ext cx="4382521" cy="200778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3"/>
          <p:cNvSpPr txBox="1"/>
          <p:nvPr>
            <p:ph idx="1" type="body"/>
          </p:nvPr>
        </p:nvSpPr>
        <p:spPr>
          <a:xfrm>
            <a:off x="6156000" y="2286000"/>
            <a:ext cx="4880300" cy="229552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98" name="Google Shape;98;p13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3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3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14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4"/>
          <p:cNvSpPr txBox="1"/>
          <p:nvPr>
            <p:ph idx="1" type="body"/>
          </p:nvPr>
        </p:nvSpPr>
        <p:spPr>
          <a:xfrm rot="5400000">
            <a:off x="4254444" y="-1260043"/>
            <a:ext cx="3674397" cy="1056328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105" name="Google Shape;105;p14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4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4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/>
          <p:nvPr/>
        </p:nvSpPr>
        <p:spPr>
          <a:xfrm>
            <a:off x="7669651" y="446089"/>
            <a:ext cx="4522349" cy="5414962"/>
          </a:xfrm>
          <a:custGeom>
            <a:rect b="b" l="l" r="r" t="t"/>
            <a:pathLst>
              <a:path extrusionOk="0" h="4320" w="2879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15"/>
          <p:cNvSpPr txBox="1"/>
          <p:nvPr>
            <p:ph type="title"/>
          </p:nvPr>
        </p:nvSpPr>
        <p:spPr>
          <a:xfrm rot="5400000">
            <a:off x="6863536" y="1906175"/>
            <a:ext cx="5134798" cy="249479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5"/>
          <p:cNvSpPr txBox="1"/>
          <p:nvPr>
            <p:ph idx="1" type="body"/>
          </p:nvPr>
        </p:nvSpPr>
        <p:spPr>
          <a:xfrm rot="5400000">
            <a:off x="1408290" y="-152200"/>
            <a:ext cx="5414962" cy="66115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112" name="Google Shape;112;p15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5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5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 b="1" i="0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🞆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" name="Google Shape;121;p16"/>
          <p:cNvSpPr/>
          <p:nvPr/>
        </p:nvSpPr>
        <p:spPr>
          <a:xfrm rot="-5400000">
            <a:off x="-650724" y="650724"/>
            <a:ext cx="6858000" cy="5556552"/>
          </a:xfrm>
          <a:custGeom>
            <a:rect b="b" l="l" r="r" t="t"/>
            <a:pathLst>
              <a:path extrusionOk="0" h="5556552" w="6858000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6"/>
          <p:cNvSpPr txBox="1"/>
          <p:nvPr>
            <p:ph type="ctrTitle"/>
          </p:nvPr>
        </p:nvSpPr>
        <p:spPr>
          <a:xfrm>
            <a:off x="5803899" y="122751"/>
            <a:ext cx="5452533" cy="330624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400"/>
              <a:buFont typeface="Century Gothic"/>
              <a:buNone/>
            </a:pPr>
            <a:r>
              <a:rPr lang="fr-FR" sz="4400"/>
              <a:t>Étude sur l’alimentation dans le monde</a:t>
            </a:r>
            <a:endParaRPr/>
          </a:p>
        </p:txBody>
      </p:sp>
      <p:pic>
        <p:nvPicPr>
          <p:cNvPr descr="Tout savoir sur les bienfaits d'une alimentation bio pour bébé | Autour de  bébé | Conseils" id="123" name="Google Shape;12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8800" y="3497385"/>
            <a:ext cx="6553200" cy="33606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/>
              <a:t>Contexte et spécification des données</a:t>
            </a:r>
            <a:endParaRPr sz="3200"/>
          </a:p>
        </p:txBody>
      </p:sp>
      <p:sp>
        <p:nvSpPr>
          <p:cNvPr id="129" name="Google Shape;129;p17"/>
          <p:cNvSpPr txBox="1"/>
          <p:nvPr>
            <p:ph idx="1" type="body"/>
          </p:nvPr>
        </p:nvSpPr>
        <p:spPr>
          <a:xfrm>
            <a:off x="818700" y="2149200"/>
            <a:ext cx="10554600" cy="32943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/>
              <a:t>En tant que data analyst au centre de l’ONU, je dois réaliser une étude sur l’alimentation dans le monde entre 2013 et 2017.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/>
              <a:t>Pour cela, je dois opter pour l’utilisation de 4 fichiers csv afin d’effectuer des requêtes : disponibilité alimentaire, insécurité alimentaire, population, et aide alimentaire.</a:t>
            </a:r>
            <a:endParaRPr/>
          </a:p>
          <a:p>
            <a:pPr indent="-2286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/>
              <a:t>Ces fichiers csv sont composés de quelques variables : string, int, et float.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/>
              <a:t>Méthodologie de l’analyse</a:t>
            </a:r>
            <a:endParaRPr sz="3200"/>
          </a:p>
        </p:txBody>
      </p:sp>
      <p:sp>
        <p:nvSpPr>
          <p:cNvPr id="135" name="Google Shape;135;p18"/>
          <p:cNvSpPr txBox="1"/>
          <p:nvPr>
            <p:ph idx="1" type="body"/>
          </p:nvPr>
        </p:nvSpPr>
        <p:spPr>
          <a:xfrm>
            <a:off x="818712" y="2222287"/>
            <a:ext cx="10554600" cy="3636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/>
              <a:t>D’après le lexique des données, aucune donnée personnelle identifiable (comme des noms, adresses, ou informations spécifiques permettant d’identifier une personne) ne semble être incluse. Les données portent sur : les pays (niveau macro, non individuel), et des variables agrégées (nombre de personnes en sous-alimentation, population en milliers d'habitants, quantités alimentaires en tonnes, etc.).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1) Proportion de personnes en état de sous-nutrition en 2017</a:t>
            </a:r>
            <a:endParaRPr sz="3200"/>
          </a:p>
        </p:txBody>
      </p:sp>
      <p:sp>
        <p:nvSpPr>
          <p:cNvPr id="141" name="Google Shape;141;p19"/>
          <p:cNvSpPr txBox="1"/>
          <p:nvPr>
            <p:ph idx="1" type="body"/>
          </p:nvPr>
        </p:nvSpPr>
        <p:spPr>
          <a:xfrm>
            <a:off x="517250" y="2309800"/>
            <a:ext cx="10572000" cy="3822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/>
              <a:t>Voici les étapes que j’ai effectué pour calculer le nombre de personnes en état de sous nutritions en 2017 : </a:t>
            </a:r>
            <a:endParaRPr/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-FR"/>
              <a:t>J’ai établi une jointure entre la table sous-nutrition et population grâce aux noms des pays tout en filtrant sur l’année 2017.</a:t>
            </a:r>
            <a:endParaRPr/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-FR"/>
              <a:t>Pour le calcul du nombres de personnes en état de sous-nutrition, j’ai fait la somme de la colonne sous nutrition.</a:t>
            </a:r>
            <a:endParaRPr/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-FR"/>
              <a:t>Pour le calcul du taux, j’ai </a:t>
            </a:r>
            <a:r>
              <a:rPr lang="fr-FR"/>
              <a:t>divisé</a:t>
            </a:r>
            <a:r>
              <a:rPr lang="fr-FR"/>
              <a:t> le résultat du calcul </a:t>
            </a:r>
            <a:r>
              <a:rPr lang="fr-FR"/>
              <a:t>précédent</a:t>
            </a:r>
            <a:r>
              <a:rPr lang="fr-FR"/>
              <a:t> par la somme de la colonne population.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/>
              <a:t>En conclusion, en 2017, il y a eu près de </a:t>
            </a:r>
            <a:r>
              <a:rPr b="1" lang="fr-FR">
                <a:solidFill>
                  <a:srgbClr val="93C47D"/>
                </a:solidFill>
              </a:rPr>
              <a:t>535 millions</a:t>
            </a:r>
            <a:r>
              <a:rPr lang="fr-FR">
                <a:solidFill>
                  <a:srgbClr val="93C47D"/>
                </a:solidFill>
              </a:rPr>
              <a:t> </a:t>
            </a:r>
            <a:r>
              <a:rPr lang="fr-FR"/>
              <a:t>de personnes en état de sous-nutrition, soit </a:t>
            </a:r>
            <a:r>
              <a:rPr b="1" lang="fr-FR">
                <a:solidFill>
                  <a:srgbClr val="93C47D"/>
                </a:solidFill>
              </a:rPr>
              <a:t>7%</a:t>
            </a:r>
            <a:r>
              <a:rPr lang="fr-FR"/>
              <a:t> de la population mondiale.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2) Nombre théorique de personnes qui pourraient être nourries en 2017</a:t>
            </a:r>
            <a:endParaRPr sz="3200"/>
          </a:p>
        </p:txBody>
      </p:sp>
      <p:sp>
        <p:nvSpPr>
          <p:cNvPr id="147" name="Google Shape;147;p20"/>
          <p:cNvSpPr txBox="1"/>
          <p:nvPr>
            <p:ph idx="1" type="body"/>
          </p:nvPr>
        </p:nvSpPr>
        <p:spPr>
          <a:xfrm>
            <a:off x="810005" y="2379575"/>
            <a:ext cx="11143800" cy="3636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/>
              <a:t>Selon VIDAL, un humain mange en moyenne 2200 Kcal par jour.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/>
              <a:t>Pour calculer le nombre de personnes qui pourraient </a:t>
            </a:r>
            <a:r>
              <a:rPr lang="fr-FR"/>
              <a:t>être</a:t>
            </a:r>
            <a:r>
              <a:rPr lang="fr-FR"/>
              <a:t> nourries en 2017, il faut faire une jointure entre la table population et dispo alimentaire.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/>
              <a:t>Puis, il faut multiplier le nombre Kcal disponible par jour par le nombre de population. Par la suite, pour </a:t>
            </a:r>
            <a:r>
              <a:rPr lang="fr-FR"/>
              <a:t>connaître</a:t>
            </a:r>
            <a:r>
              <a:rPr lang="fr-FR"/>
              <a:t> le nombre de personnes nourries théoriquement, il faut prendre la valeur du résultat précédent et diviser par 2200.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/>
              <a:t>En conclusion, </a:t>
            </a:r>
            <a:r>
              <a:rPr b="1" lang="fr-FR">
                <a:solidFill>
                  <a:srgbClr val="93C47D"/>
                </a:solidFill>
              </a:rPr>
              <a:t>9 milliards</a:t>
            </a:r>
            <a:r>
              <a:rPr lang="fr-FR"/>
              <a:t> de personnes seront nourries en 2017.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3) Nombre théorique de personnes qui pourraient être nourries uniquement avec les végétaux en 2017</a:t>
            </a:r>
            <a:endParaRPr/>
          </a:p>
        </p:txBody>
      </p:sp>
      <p:sp>
        <p:nvSpPr>
          <p:cNvPr id="153" name="Google Shape;153;p21"/>
          <p:cNvSpPr txBox="1"/>
          <p:nvPr>
            <p:ph idx="1" type="body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/>
              <a:t>Ici, le fonctionnement est similaire qu’à la </a:t>
            </a:r>
            <a:r>
              <a:rPr lang="fr-FR"/>
              <a:t>requête</a:t>
            </a:r>
            <a:r>
              <a:rPr lang="fr-FR"/>
              <a:t> précédente, mais on applique un filtre sur la colonne “Origine”, pour y mettre “végétale”.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/>
              <a:t>Le nombre de personnes pouvant </a:t>
            </a:r>
            <a:r>
              <a:rPr lang="fr-FR"/>
              <a:t>être</a:t>
            </a:r>
            <a:r>
              <a:rPr lang="fr-FR"/>
              <a:t> </a:t>
            </a:r>
            <a:r>
              <a:rPr lang="fr-FR"/>
              <a:t>nourris</a:t>
            </a:r>
            <a:r>
              <a:rPr lang="fr-FR"/>
              <a:t> avec les végétaux sont de </a:t>
            </a:r>
            <a:r>
              <a:rPr b="1" lang="fr-FR">
                <a:solidFill>
                  <a:srgbClr val="93C47D"/>
                </a:solidFill>
              </a:rPr>
              <a:t>7,8 milliards</a:t>
            </a:r>
            <a:r>
              <a:rPr lang="fr-FR"/>
              <a:t>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4) Répartition de la disponibilité intérieure</a:t>
            </a:r>
            <a:endParaRPr/>
          </a:p>
        </p:txBody>
      </p:sp>
      <p:sp>
        <p:nvSpPr>
          <p:cNvPr id="159" name="Google Shape;159;p22"/>
          <p:cNvSpPr txBox="1"/>
          <p:nvPr>
            <p:ph idx="1" type="body"/>
          </p:nvPr>
        </p:nvSpPr>
        <p:spPr>
          <a:xfrm>
            <a:off x="327106" y="2316500"/>
            <a:ext cx="4941000" cy="3636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/>
              <a:t>Pour </a:t>
            </a:r>
            <a:r>
              <a:rPr lang="fr-FR"/>
              <a:t>connaître</a:t>
            </a:r>
            <a:r>
              <a:rPr lang="fr-FR"/>
              <a:t> la répartition de la disponibilité intérieure, il faut faire la somme des colonnes : “animaux”, “pertes”, “nourritures”, “semences”, “traitements”, et “autres utilisations”. Puis faire la proportion des colonnes sur la somme de la disponibilité.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/>
              <a:t>On remarque que la proportion de nourriture est plus important dans la disponibilité intérieur.</a:t>
            </a:r>
            <a:endParaRPr/>
          </a:p>
        </p:txBody>
      </p:sp>
      <p:pic>
        <p:nvPicPr>
          <p:cNvPr id="160" name="Google Shape;16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9575" y="2316500"/>
            <a:ext cx="5622424" cy="344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3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5) Part de l’utilisation des principales céréales entre l’alimentation humaine et animale</a:t>
            </a:r>
            <a:endParaRPr/>
          </a:p>
        </p:txBody>
      </p:sp>
      <p:sp>
        <p:nvSpPr>
          <p:cNvPr id="166" name="Google Shape;166;p23"/>
          <p:cNvSpPr txBox="1"/>
          <p:nvPr>
            <p:ph idx="1" type="body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/>
              <a:t>Tout d’abord, il faut faire un filtre sur les produits pour afficher uniquement “Blé”, “Riz”, </a:t>
            </a:r>
            <a:r>
              <a:rPr lang="fr-FR"/>
              <a:t>"Orge", "Maïs", "Seigle", "Avoine", "Millet", "Sorgho", et "Céréales" dans la colonne “Produit” de la table dispo alimentaire.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/>
              <a:t>Puis on calcule la proportion d’aliments pour animaux sur la disponibilité intérieur. </a:t>
            </a:r>
            <a:r>
              <a:rPr lang="fr-FR"/>
              <a:t>Même</a:t>
            </a:r>
            <a:r>
              <a:rPr lang="fr-FR"/>
              <a:t> chose pour la nourriture.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/>
              <a:t>Ce qui nous donne une valeur de </a:t>
            </a:r>
            <a:r>
              <a:rPr b="1" lang="fr-FR">
                <a:solidFill>
                  <a:srgbClr val="93C47D"/>
                </a:solidFill>
              </a:rPr>
              <a:t>36%</a:t>
            </a:r>
            <a:r>
              <a:rPr lang="fr-FR"/>
              <a:t> pour l’alimentation animale et </a:t>
            </a:r>
            <a:r>
              <a:rPr b="1" lang="fr-FR">
                <a:solidFill>
                  <a:srgbClr val="93C47D"/>
                </a:solidFill>
              </a:rPr>
              <a:t>43%</a:t>
            </a:r>
            <a:r>
              <a:rPr lang="fr-FR"/>
              <a:t> pour l’alimentation humaine.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6) Liste des 10 pays où la proportion de personnes en état de sous-nutrition est la plus forte en </a:t>
            </a:r>
            <a:r>
              <a:rPr lang="fr-FR" sz="3200">
                <a:solidFill>
                  <a:schemeClr val="lt1"/>
                </a:solidFill>
              </a:rPr>
              <a:t>2017</a:t>
            </a:r>
            <a:endParaRPr/>
          </a:p>
        </p:txBody>
      </p:sp>
      <p:sp>
        <p:nvSpPr>
          <p:cNvPr id="172" name="Google Shape;172;p24"/>
          <p:cNvSpPr txBox="1"/>
          <p:nvPr>
            <p:ph idx="1" type="body"/>
          </p:nvPr>
        </p:nvSpPr>
        <p:spPr>
          <a:xfrm>
            <a:off x="818706" y="2222275"/>
            <a:ext cx="4862100" cy="3636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/>
              <a:t>Pour cette </a:t>
            </a:r>
            <a:r>
              <a:rPr lang="fr-FR"/>
              <a:t>requête</a:t>
            </a:r>
            <a:r>
              <a:rPr lang="fr-FR"/>
              <a:t>, il faut faire une jointure entre la table sous_nutrition et population en filtrant sur l’année 2017. Le calcul de la proportion se fait par la division de la colonne “sous_nutrition” par la colonne “population”. Puis on </a:t>
            </a:r>
            <a:r>
              <a:rPr lang="fr-FR"/>
              <a:t>exécute</a:t>
            </a:r>
            <a:r>
              <a:rPr lang="fr-FR"/>
              <a:t> le dataset par head et decreasing pour afficher les 10 pays </a:t>
            </a:r>
            <a:r>
              <a:rPr lang="fr-FR"/>
              <a:t>où</a:t>
            </a:r>
            <a:r>
              <a:rPr lang="fr-FR"/>
              <a:t> la proportion est plus importante.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/>
              <a:t>Ici, Haiti est en </a:t>
            </a:r>
            <a:r>
              <a:rPr lang="fr-FR"/>
              <a:t>tête</a:t>
            </a:r>
            <a:r>
              <a:rPr lang="fr-FR"/>
              <a:t> avec une proportion de </a:t>
            </a:r>
            <a:r>
              <a:rPr b="1" lang="fr-FR">
                <a:solidFill>
                  <a:srgbClr val="93C47D"/>
                </a:solidFill>
              </a:rPr>
              <a:t>48%</a:t>
            </a:r>
            <a:r>
              <a:rPr lang="fr-FR"/>
              <a:t>.</a:t>
            </a:r>
            <a:endParaRPr/>
          </a:p>
        </p:txBody>
      </p:sp>
      <p:pic>
        <p:nvPicPr>
          <p:cNvPr id="173" name="Google Shape;17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3538" y="2164113"/>
            <a:ext cx="5381625" cy="375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5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7) Liste des 10 pays qui ont le plus bénéficié de l’aide alimentaire entre 2013 et 2016</a:t>
            </a:r>
            <a:endParaRPr/>
          </a:p>
        </p:txBody>
      </p:sp>
      <p:sp>
        <p:nvSpPr>
          <p:cNvPr id="179" name="Google Shape;179;p25"/>
          <p:cNvSpPr txBox="1"/>
          <p:nvPr>
            <p:ph idx="1" type="body"/>
          </p:nvPr>
        </p:nvSpPr>
        <p:spPr>
          <a:xfrm>
            <a:off x="818706" y="2222275"/>
            <a:ext cx="4886700" cy="3636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/>
              <a:t>Pour afficher cette </a:t>
            </a:r>
            <a:r>
              <a:rPr lang="fr-FR"/>
              <a:t>requête</a:t>
            </a:r>
            <a:r>
              <a:rPr lang="fr-FR"/>
              <a:t>,  il faut utiliser “aggregate” pour faire la somme des aides par zone avec la table aide_alimentaire. Puis on utilise head et decreasing pour avoir la liste des 10 pays.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/>
              <a:t>On constate que la République arabe syrienne a eu le plus d’aides alimentaires.</a:t>
            </a:r>
            <a:endParaRPr/>
          </a:p>
        </p:txBody>
      </p:sp>
      <p:pic>
        <p:nvPicPr>
          <p:cNvPr id="180" name="Google Shape;180;p25"/>
          <p:cNvPicPr preferRelativeResize="0"/>
          <p:nvPr/>
        </p:nvPicPr>
        <p:blipFill rotWithShape="1">
          <a:blip r:embed="rId3">
            <a:alphaModFix/>
          </a:blip>
          <a:srcRect b="0" l="0" r="0" t="17675"/>
          <a:stretch/>
        </p:blipFill>
        <p:spPr>
          <a:xfrm>
            <a:off x="7305300" y="1911083"/>
            <a:ext cx="4886699" cy="25933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05300" y="4504400"/>
            <a:ext cx="4886700" cy="23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6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8) Évolution de l’aide alimentaire pour les 5 pays qui en ont le plus bénéficié entre 2013 et 2016</a:t>
            </a:r>
            <a:endParaRPr/>
          </a:p>
        </p:txBody>
      </p:sp>
      <p:pic>
        <p:nvPicPr>
          <p:cNvPr id="187" name="Google Shape;18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9100" y="2222263"/>
            <a:ext cx="6581775" cy="437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6"/>
          <p:cNvSpPr txBox="1"/>
          <p:nvPr>
            <p:ph idx="1" type="body"/>
          </p:nvPr>
        </p:nvSpPr>
        <p:spPr>
          <a:xfrm>
            <a:off x="67006" y="2473500"/>
            <a:ext cx="4886700" cy="3636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/>
              <a:t>Pour afficher cette requête,  il faut utiliser “aggregate” pour créer un dataframe avec la zone, l’année et l’aide alimentaire.  Puis on utilise decreasing et head pour afficher les 5 pays. Avec ggplot on affiche le graphique.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/>
              <a:t>On constate que la République arabe syrienne a subit une baisse d’aides alimentaire, tandis que le Yémen est en hausse.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7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9) Liste des 10 pays qui ont la plus forte disponibilité alimentaire par habitant</a:t>
            </a:r>
            <a:endParaRPr sz="3200"/>
          </a:p>
        </p:txBody>
      </p:sp>
      <p:sp>
        <p:nvSpPr>
          <p:cNvPr id="194" name="Google Shape;194;p27"/>
          <p:cNvSpPr txBox="1"/>
          <p:nvPr>
            <p:ph idx="1" type="body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95" name="Google Shape;19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9775" y="2393913"/>
            <a:ext cx="5958350" cy="325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8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9) Liste des 10 pays qui ont la plus faible disponibilité alimentaire par habitant</a:t>
            </a:r>
            <a:endParaRPr/>
          </a:p>
        </p:txBody>
      </p:sp>
      <p:sp>
        <p:nvSpPr>
          <p:cNvPr id="201" name="Google Shape;201;p28"/>
          <p:cNvSpPr txBox="1"/>
          <p:nvPr>
            <p:ph idx="1" type="body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202" name="Google Shape;20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1230" y="2623305"/>
            <a:ext cx="9336249" cy="283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9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10) Étude sur le manioc en Thaïlande</a:t>
            </a:r>
            <a:endParaRPr/>
          </a:p>
        </p:txBody>
      </p:sp>
      <p:sp>
        <p:nvSpPr>
          <p:cNvPr id="208" name="Google Shape;208;p29"/>
          <p:cNvSpPr txBox="1"/>
          <p:nvPr>
            <p:ph idx="1" type="body"/>
          </p:nvPr>
        </p:nvSpPr>
        <p:spPr>
          <a:xfrm>
            <a:off x="810002" y="2291575"/>
            <a:ext cx="9122100" cy="3636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/>
              <a:t>En </a:t>
            </a:r>
            <a:r>
              <a:rPr lang="fr-FR"/>
              <a:t>Thaïlande</a:t>
            </a:r>
            <a:r>
              <a:rPr lang="fr-FR"/>
              <a:t>, près de </a:t>
            </a:r>
            <a:r>
              <a:rPr b="1" lang="fr-FR">
                <a:solidFill>
                  <a:srgbClr val="93C47D"/>
                </a:solidFill>
              </a:rPr>
              <a:t>9% de la population</a:t>
            </a:r>
            <a:r>
              <a:rPr lang="fr-FR"/>
              <a:t> est en état de sous-nutrition.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/>
              <a:t>Cependant, on remarque qu’il y a près de </a:t>
            </a:r>
            <a:r>
              <a:rPr b="1" lang="fr-FR">
                <a:solidFill>
                  <a:srgbClr val="93C47D"/>
                </a:solidFill>
              </a:rPr>
              <a:t>83% de manioc</a:t>
            </a:r>
            <a:r>
              <a:rPr lang="fr-FR"/>
              <a:t> qui sont exporté dans la production et ça représenterai </a:t>
            </a:r>
            <a:r>
              <a:rPr b="1" lang="fr-FR">
                <a:solidFill>
                  <a:srgbClr val="93C47D"/>
                </a:solidFill>
              </a:rPr>
              <a:t>2 milliards de Kcal</a:t>
            </a:r>
            <a:r>
              <a:rPr lang="fr-FR"/>
              <a:t>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/>
              <a:t>Le pays a tendance à exporter sa production que d’utiliser le manioc pour nourrir sa population.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0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11) Analyse complémentaire</a:t>
            </a:r>
            <a:endParaRPr/>
          </a:p>
        </p:txBody>
      </p:sp>
      <p:sp>
        <p:nvSpPr>
          <p:cNvPr id="215" name="Google Shape;215;p30"/>
          <p:cNvSpPr txBox="1"/>
          <p:nvPr>
            <p:ph idx="1" type="body"/>
          </p:nvPr>
        </p:nvSpPr>
        <p:spPr>
          <a:xfrm>
            <a:off x="818712" y="2222287"/>
            <a:ext cx="10554600" cy="3636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Nombre théorique de personnes qui pourraient être nourries uniquement avec les produits d’origine animale en 2017 :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fr-FR"/>
              <a:t>Ici, le fonctionnement est similaire qu’à la requête précédente, mais on applique un filtre sur la colonne “Origine”, pour y mettre “animale”.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fr-FR"/>
              <a:t>Le nombre de personnes pouvant être nourris avec les produits d’origine animale sont de </a:t>
            </a:r>
            <a:r>
              <a:rPr b="1" lang="fr-FR">
                <a:solidFill>
                  <a:srgbClr val="93C47D"/>
                </a:solidFill>
              </a:rPr>
              <a:t>1,6 milliards</a:t>
            </a:r>
            <a:r>
              <a:rPr lang="fr-FR"/>
              <a:t>, soit </a:t>
            </a:r>
            <a:r>
              <a:rPr b="1" lang="fr-FR">
                <a:solidFill>
                  <a:srgbClr val="93C47D"/>
                </a:solidFill>
              </a:rPr>
              <a:t>22%</a:t>
            </a:r>
            <a:r>
              <a:rPr lang="fr-FR"/>
              <a:t> de la population en 2017.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1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/>
              <a:t>Conclusion</a:t>
            </a:r>
            <a:endParaRPr/>
          </a:p>
        </p:txBody>
      </p:sp>
      <p:sp>
        <p:nvSpPr>
          <p:cNvPr id="221" name="Google Shape;221;p31"/>
          <p:cNvSpPr txBox="1"/>
          <p:nvPr>
            <p:ph idx="1" type="body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/>
              <a:t>Cette étude met en lumière les disparités dans l'accès à l'alimentation et l'impact de l'aide alimentaire à travers le monde. Les résultats révèlent des zones critiques nécessitant une intervention immédiate et des ressources alimentaires sous-utilisées pouvant potentiellement résoudre une partie du problème de la sous-nutrition.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ntre guillemets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