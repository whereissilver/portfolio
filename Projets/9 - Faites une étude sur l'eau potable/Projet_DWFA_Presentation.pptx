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9" r:id="rId4"/>
    <p:sldId id="267" r:id="rId5"/>
    <p:sldId id="268" r:id="rId6"/>
    <p:sldId id="269" r:id="rId7"/>
    <p:sldId id="270" r:id="rId8"/>
    <p:sldId id="271" r:id="rId9"/>
    <p:sldId id="263" r:id="rId10"/>
    <p:sldId id="272" r:id="rId11"/>
    <p:sldId id="273" r:id="rId12"/>
    <p:sldId id="274" r:id="rId13"/>
    <p:sldId id="275" r:id="rId14"/>
    <p:sldId id="276" r:id="rId15"/>
    <p:sldId id="277" r:id="rId16"/>
    <p:sldId id="264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64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1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06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26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51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28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6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22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06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7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9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7475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46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8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089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63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4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167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 Data Analyst – DWFA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 err="1"/>
              <a:t>Accès</a:t>
            </a:r>
            <a:r>
              <a:rPr dirty="0"/>
              <a:t> </a:t>
            </a:r>
            <a:r>
              <a:rPr dirty="0" err="1"/>
              <a:t>universel</a:t>
            </a:r>
            <a:r>
              <a:rPr dirty="0"/>
              <a:t> à </a:t>
            </a:r>
            <a:r>
              <a:rPr dirty="0" err="1"/>
              <a:t>l’eau</a:t>
            </a:r>
            <a:r>
              <a:rPr dirty="0"/>
              <a:t> potable</a:t>
            </a:r>
          </a:p>
          <a:p>
            <a:r>
              <a:rPr dirty="0"/>
              <a:t>Consultant : </a:t>
            </a:r>
            <a:r>
              <a:rPr lang="fr-FR" dirty="0"/>
              <a:t>KEVIN </a:t>
            </a:r>
            <a:r>
              <a:rPr lang="fr-FR" dirty="0" err="1"/>
              <a:t>pAPAMA</a:t>
            </a:r>
            <a:r>
              <a:rPr lang="fr-FR" dirty="0"/>
              <a:t> (</a:t>
            </a:r>
            <a:r>
              <a:rPr dirty="0"/>
              <a:t>Data Analyst</a:t>
            </a:r>
            <a:r>
              <a:rPr lang="fr-FR" dirty="0"/>
              <a:t>)</a:t>
            </a:r>
            <a:endParaRPr dirty="0"/>
          </a:p>
          <a:p>
            <a:r>
              <a:rPr dirty="0"/>
              <a:t>Juillet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ONG : Drinking Water For All (DWFA)</a:t>
            </a:r>
          </a:p>
          <a:p>
            <a:r>
              <a:rPr dirty="0"/>
              <a:t>Mission : </a:t>
            </a:r>
            <a:r>
              <a:rPr dirty="0" err="1"/>
              <a:t>Accès</a:t>
            </a:r>
            <a:r>
              <a:rPr dirty="0"/>
              <a:t> </a:t>
            </a:r>
            <a:r>
              <a:rPr dirty="0" err="1"/>
              <a:t>mondial</a:t>
            </a:r>
            <a:r>
              <a:rPr dirty="0"/>
              <a:t> à </a:t>
            </a:r>
            <a:r>
              <a:rPr dirty="0" err="1"/>
              <a:t>l’eau</a:t>
            </a:r>
            <a:r>
              <a:rPr dirty="0"/>
              <a:t> potable</a:t>
            </a:r>
          </a:p>
          <a:p>
            <a:r>
              <a:rPr dirty="0"/>
              <a:t>3 </a:t>
            </a:r>
            <a:r>
              <a:rPr dirty="0" err="1"/>
              <a:t>expertises</a:t>
            </a:r>
            <a:r>
              <a:rPr dirty="0"/>
              <a:t> : </a:t>
            </a:r>
            <a:r>
              <a:rPr dirty="0" err="1"/>
              <a:t>Création</a:t>
            </a:r>
            <a:r>
              <a:rPr dirty="0"/>
              <a:t>, </a:t>
            </a:r>
            <a:r>
              <a:rPr dirty="0" err="1"/>
              <a:t>Modernisation</a:t>
            </a:r>
            <a:r>
              <a:rPr dirty="0"/>
              <a:t>, Conseil</a:t>
            </a:r>
          </a:p>
          <a:p>
            <a:r>
              <a:rPr dirty="0"/>
              <a:t>Objectif : Identifier pays à </a:t>
            </a:r>
            <a:r>
              <a:rPr dirty="0" err="1"/>
              <a:t>prioriser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Prétraitement</a:t>
            </a:r>
            <a:r>
              <a:rPr dirty="0"/>
              <a:t>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768" y="1853249"/>
            <a:ext cx="6711654" cy="1262018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Format : CSV</a:t>
            </a:r>
          </a:p>
          <a:p>
            <a:r>
              <a:rPr lang="fr-FR" dirty="0"/>
              <a:t>Data set : Population (2000 à 2018), </a:t>
            </a:r>
            <a:r>
              <a:rPr lang="fr-FR" dirty="0" err="1"/>
              <a:t>RegionCountry</a:t>
            </a:r>
            <a:r>
              <a:rPr lang="fr-FR" dirty="0"/>
              <a:t>, </a:t>
            </a:r>
            <a:r>
              <a:rPr lang="fr-FR" dirty="0" err="1"/>
              <a:t>PoliticalStability</a:t>
            </a:r>
            <a:r>
              <a:rPr lang="fr-FR" dirty="0"/>
              <a:t> (2000 à 2018), </a:t>
            </a:r>
            <a:r>
              <a:rPr lang="fr-FR" dirty="0" err="1"/>
              <a:t>MortalityRateAttributedWater</a:t>
            </a:r>
            <a:r>
              <a:rPr lang="fr-FR" dirty="0"/>
              <a:t> (2016), </a:t>
            </a:r>
            <a:r>
              <a:rPr lang="fr-FR" dirty="0" err="1"/>
              <a:t>BasicAndSafelyManagedDrinkingWaterServices</a:t>
            </a:r>
            <a:r>
              <a:rPr lang="fr-FR" dirty="0"/>
              <a:t> (2000 à 2017)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67C24D-6D3A-262A-7EAF-A27A9AA3A8D2}"/>
              </a:ext>
            </a:extLst>
          </p:cNvPr>
          <p:cNvSpPr txBox="1">
            <a:spLocks/>
          </p:cNvSpPr>
          <p:nvPr/>
        </p:nvSpPr>
        <p:spPr>
          <a:xfrm>
            <a:off x="632837" y="3184634"/>
            <a:ext cx="7523121" cy="2773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1"/>
            <a:r>
              <a:rPr lang="fr-FR" sz="1000" dirty="0" err="1"/>
              <a:t>BasicAndSafelyManagedDrinkingWaterServices</a:t>
            </a:r>
            <a:r>
              <a:rPr lang="fr-FR" sz="1000" dirty="0"/>
              <a:t> : 	</a:t>
            </a:r>
          </a:p>
          <a:p>
            <a:pPr lvl="2"/>
            <a:r>
              <a:rPr lang="fr-FR" sz="800" dirty="0"/>
              <a:t>Remplacer les points (.) par des virgules (,) dans les valeurs décimales </a:t>
            </a:r>
          </a:p>
          <a:p>
            <a:pPr lvl="2"/>
            <a:r>
              <a:rPr lang="fr-FR" sz="800" dirty="0"/>
              <a:t>Convertir les valeurs des colonnes en pourcentage (pour les parts relatives) </a:t>
            </a:r>
          </a:p>
          <a:p>
            <a:pPr lvl="2"/>
            <a:r>
              <a:rPr lang="fr-FR" sz="800" dirty="0"/>
              <a:t>Convertir la colonne "Année" en valeur</a:t>
            </a:r>
          </a:p>
          <a:p>
            <a:pPr lvl="1"/>
            <a:endParaRPr lang="fr-FR" sz="1000" dirty="0"/>
          </a:p>
          <a:p>
            <a:pPr lvl="1"/>
            <a:endParaRPr lang="fr-FR" sz="1000" dirty="0"/>
          </a:p>
          <a:p>
            <a:pPr marL="457207" lvl="1" indent="0">
              <a:buNone/>
            </a:pPr>
            <a:endParaRPr lang="fr-FR" sz="1000" dirty="0"/>
          </a:p>
          <a:p>
            <a:pPr marL="457207" lvl="1" indent="0">
              <a:buNone/>
            </a:pPr>
            <a:endParaRPr lang="fr-FR" sz="1000" dirty="0"/>
          </a:p>
          <a:p>
            <a:pPr marL="457207" lvl="1" indent="0">
              <a:buNone/>
            </a:pPr>
            <a:endParaRPr lang="fr-FR" sz="1000" dirty="0"/>
          </a:p>
          <a:p>
            <a:pPr lvl="1"/>
            <a:endParaRPr lang="fr-FR" sz="1000" dirty="0"/>
          </a:p>
          <a:p>
            <a:pPr lvl="1"/>
            <a:endParaRPr lang="fr-FR" sz="10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77E6894-59B7-0AD6-DF38-2FFC64F3D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26" y="4876044"/>
            <a:ext cx="8026453" cy="13250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3A61-290A-B1B2-287B-FF80038F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0F6E-2A00-B1D5-72B8-33D88BEA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Prétraitement</a:t>
            </a:r>
            <a:r>
              <a:rPr dirty="0"/>
              <a:t> des données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A68212-1107-A9BE-AEDB-480FCC44865C}"/>
              </a:ext>
            </a:extLst>
          </p:cNvPr>
          <p:cNvSpPr txBox="1">
            <a:spLocks/>
          </p:cNvSpPr>
          <p:nvPr/>
        </p:nvSpPr>
        <p:spPr>
          <a:xfrm>
            <a:off x="632837" y="2125192"/>
            <a:ext cx="7523121" cy="3832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7" lvl="1" indent="0">
              <a:buNone/>
            </a:pPr>
            <a:endParaRPr lang="fr-FR" sz="1000" dirty="0"/>
          </a:p>
          <a:p>
            <a:pPr lvl="1"/>
            <a:r>
              <a:rPr lang="fr-FR" sz="1000" dirty="0" err="1"/>
              <a:t>MortalityRateAttributedWater</a:t>
            </a:r>
            <a:r>
              <a:rPr lang="fr-FR" sz="1000" dirty="0"/>
              <a:t> : </a:t>
            </a:r>
          </a:p>
          <a:p>
            <a:pPr lvl="2"/>
            <a:r>
              <a:rPr lang="fr-FR" sz="800" dirty="0"/>
              <a:t>Convertir la colonne "Année" en valeur ; </a:t>
            </a:r>
          </a:p>
          <a:p>
            <a:pPr lvl="2"/>
            <a:r>
              <a:rPr lang="fr-FR" sz="800" dirty="0"/>
              <a:t>Remplacer les points (.) par des virgules (,) dans les valeurs décimales et  convertir ces colonnes en format numérique ; </a:t>
            </a:r>
          </a:p>
          <a:p>
            <a:pPr lvl="2"/>
            <a:r>
              <a:rPr lang="fr-FR" sz="800" dirty="0"/>
              <a:t>Convertir les valeurs des colonnes en pourcentage (pour le taux de mortalité) </a:t>
            </a:r>
          </a:p>
          <a:p>
            <a:pPr lvl="1"/>
            <a:endParaRPr lang="fr-FR" sz="1000" dirty="0"/>
          </a:p>
          <a:p>
            <a:pPr lvl="1"/>
            <a:endParaRPr lang="fr-FR" sz="10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4E8BDED-230C-1C7F-C1DA-80A3CE68A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37" y="4041490"/>
            <a:ext cx="7878326" cy="173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69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90EB-79E8-A5C5-0B36-B00910E3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71B5E-78D2-3D17-F208-311F9414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Prétraitement</a:t>
            </a:r>
            <a:r>
              <a:rPr dirty="0"/>
              <a:t> des données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1045AF-8D76-C5CB-05A6-2B9FBCEDFBA8}"/>
              </a:ext>
            </a:extLst>
          </p:cNvPr>
          <p:cNvSpPr txBox="1">
            <a:spLocks/>
          </p:cNvSpPr>
          <p:nvPr/>
        </p:nvSpPr>
        <p:spPr>
          <a:xfrm>
            <a:off x="632837" y="2125192"/>
            <a:ext cx="7523121" cy="3832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7" lvl="1" indent="0">
              <a:buNone/>
            </a:pPr>
            <a:endParaRPr lang="fr-FR" sz="1000" dirty="0"/>
          </a:p>
          <a:p>
            <a:pPr lvl="1"/>
            <a:r>
              <a:rPr lang="fr-FR" sz="1000" dirty="0" err="1"/>
              <a:t>PoliticalStability</a:t>
            </a:r>
            <a:r>
              <a:rPr lang="fr-FR" sz="1000" dirty="0"/>
              <a:t> : </a:t>
            </a:r>
          </a:p>
          <a:p>
            <a:pPr lvl="2"/>
            <a:r>
              <a:rPr lang="fr-FR" sz="800" dirty="0"/>
              <a:t>Convertir la colonne "Année" en valeur ; </a:t>
            </a:r>
          </a:p>
          <a:p>
            <a:pPr lvl="2"/>
            <a:r>
              <a:rPr lang="fr-FR" sz="800" dirty="0"/>
              <a:t>Remplacer les points (.) par des virgules (,) dans les valeurs décimales et  convertir ces colonnes en format numérique ; </a:t>
            </a:r>
            <a:endParaRPr lang="fr-FR" sz="1000" dirty="0"/>
          </a:p>
          <a:p>
            <a:pPr lvl="1"/>
            <a:endParaRPr lang="fr-FR" sz="1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FE0BEB4-A121-B0ED-3710-7838BE52D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402" y="3928159"/>
            <a:ext cx="6790008" cy="188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8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C314E-7743-87EC-E146-4CB0A2B35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161A-9536-E41E-8BB1-21BD73F53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Prétraitement</a:t>
            </a:r>
            <a:r>
              <a:rPr dirty="0"/>
              <a:t> des données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1EC510-28CF-998B-B5FD-50EE23A7F5FE}"/>
              </a:ext>
            </a:extLst>
          </p:cNvPr>
          <p:cNvSpPr txBox="1">
            <a:spLocks/>
          </p:cNvSpPr>
          <p:nvPr/>
        </p:nvSpPr>
        <p:spPr>
          <a:xfrm>
            <a:off x="632837" y="2125192"/>
            <a:ext cx="7523121" cy="3832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7" lvl="1" indent="0">
              <a:buNone/>
            </a:pPr>
            <a:endParaRPr lang="fr-FR" sz="1000" dirty="0"/>
          </a:p>
          <a:p>
            <a:pPr lvl="1"/>
            <a:r>
              <a:rPr lang="fr-FR" sz="1000" dirty="0"/>
              <a:t>Population : </a:t>
            </a:r>
          </a:p>
          <a:p>
            <a:pPr lvl="2"/>
            <a:r>
              <a:rPr lang="fr-FR" sz="800" dirty="0"/>
              <a:t>Convertir la colonne "Année" en valeur ; </a:t>
            </a:r>
          </a:p>
          <a:p>
            <a:pPr lvl="2"/>
            <a:r>
              <a:rPr lang="fr-FR" sz="800" dirty="0"/>
              <a:t>Remplacer les points (.) par des virgules (,) dans les valeurs décimales et  convertir ces colonnes en format numérique ; </a:t>
            </a:r>
            <a:endParaRPr lang="fr-FR" sz="1000" dirty="0"/>
          </a:p>
          <a:p>
            <a:pPr lvl="1"/>
            <a:endParaRPr lang="fr-FR" sz="10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1C6835A-30EC-AD55-CDAE-EE67869FB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052" y="3770659"/>
            <a:ext cx="6706181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03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A872-44F7-094D-581B-6E7371110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88036-8E30-1EDC-75EE-D7244E3A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Prétraitement</a:t>
            </a:r>
            <a:r>
              <a:rPr dirty="0"/>
              <a:t> des données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9D4839-696F-23D3-8307-16371AE5993A}"/>
              </a:ext>
            </a:extLst>
          </p:cNvPr>
          <p:cNvSpPr txBox="1">
            <a:spLocks/>
          </p:cNvSpPr>
          <p:nvPr/>
        </p:nvSpPr>
        <p:spPr>
          <a:xfrm>
            <a:off x="632837" y="2125192"/>
            <a:ext cx="7523121" cy="3832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7" lvl="1" indent="0">
              <a:buNone/>
            </a:pPr>
            <a:endParaRPr lang="fr-FR" sz="1000" dirty="0"/>
          </a:p>
          <a:p>
            <a:pPr lvl="1"/>
            <a:r>
              <a:rPr lang="fr-FR" sz="1000" dirty="0" err="1"/>
              <a:t>RegionCountry</a:t>
            </a:r>
            <a:r>
              <a:rPr lang="fr-FR" sz="1000" dirty="0"/>
              <a:t> : </a:t>
            </a:r>
          </a:p>
          <a:p>
            <a:pPr lvl="2"/>
            <a:r>
              <a:rPr lang="fr-FR" sz="800" dirty="0"/>
              <a:t>Suppression de la première ligne; </a:t>
            </a:r>
          </a:p>
          <a:p>
            <a:pPr lvl="2"/>
            <a:r>
              <a:rPr lang="fr-FR" sz="800" dirty="0"/>
              <a:t>Colonne renommée; </a:t>
            </a:r>
            <a:endParaRPr lang="fr-FR" sz="1000" dirty="0"/>
          </a:p>
          <a:p>
            <a:pPr lvl="1"/>
            <a:endParaRPr lang="fr-FR" sz="1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883FF33-8E5C-2913-B172-29A2F7220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56" y="3687890"/>
            <a:ext cx="4473328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73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F23EB-4F88-1D88-4F55-93FA41C90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5784-07D8-FAC9-2FDF-9E9726E7B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8" y="75398"/>
            <a:ext cx="7055380" cy="435405"/>
          </a:xfrm>
        </p:spPr>
        <p:txBody>
          <a:bodyPr/>
          <a:lstStyle/>
          <a:p>
            <a:r>
              <a:rPr dirty="0"/>
              <a:t>Blueprint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4430350-532B-1D95-6597-9E0425C0F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3" y="966229"/>
            <a:ext cx="6729043" cy="407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94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648" y="75398"/>
            <a:ext cx="7055380" cy="435405"/>
          </a:xfrm>
        </p:spPr>
        <p:txBody>
          <a:bodyPr/>
          <a:lstStyle/>
          <a:p>
            <a:r>
              <a:rPr dirty="0"/>
              <a:t>Blueprint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A25681A-76A8-A0C1-1C30-456F87D2C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370" y="1249663"/>
            <a:ext cx="1828958" cy="81541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D4C1DF6-20C9-BC21-51A1-83234C537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3" y="966229"/>
            <a:ext cx="6729043" cy="407873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15118AD-E0AC-062E-008E-4EC3725C6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747" y="2252242"/>
            <a:ext cx="2144110" cy="110338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210403D-FC6D-A364-94A9-DDD159482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641" y="5316773"/>
            <a:ext cx="2042658" cy="1208772"/>
          </a:xfrm>
          <a:prstGeom prst="rect">
            <a:avLst/>
          </a:prstGeom>
        </p:spPr>
      </p:pic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6EC63789-F159-8F8A-1C88-A1EF25ED468E}"/>
              </a:ext>
            </a:extLst>
          </p:cNvPr>
          <p:cNvCxnSpPr/>
          <p:nvPr/>
        </p:nvCxnSpPr>
        <p:spPr>
          <a:xfrm>
            <a:off x="6520618" y="1431509"/>
            <a:ext cx="693683" cy="340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0C45741F-4D97-AD72-A7B4-C0148EF35D8C}"/>
              </a:ext>
            </a:extLst>
          </p:cNvPr>
          <p:cNvCxnSpPr/>
          <p:nvPr/>
        </p:nvCxnSpPr>
        <p:spPr>
          <a:xfrm>
            <a:off x="6362963" y="1841412"/>
            <a:ext cx="1210791" cy="819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645F72CB-6877-7383-852A-A743267FC0C4}"/>
              </a:ext>
            </a:extLst>
          </p:cNvPr>
          <p:cNvCxnSpPr/>
          <p:nvPr/>
        </p:nvCxnSpPr>
        <p:spPr>
          <a:xfrm>
            <a:off x="857644" y="2446808"/>
            <a:ext cx="0" cy="3203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>
            <a:extLst>
              <a:ext uri="{FF2B5EF4-FFF2-40B4-BE49-F238E27FC236}">
                <a16:creationId xmlns:a16="http://schemas.microsoft.com/office/drawing/2014/main" id="{DE9F5B10-A404-17DD-FA6E-3AF6E2AF3D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0397" y="3512096"/>
            <a:ext cx="1760373" cy="762066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A7886B78-BEC6-09ED-8176-7AD1155797DF}"/>
              </a:ext>
            </a:extLst>
          </p:cNvPr>
          <p:cNvCxnSpPr/>
          <p:nvPr/>
        </p:nvCxnSpPr>
        <p:spPr>
          <a:xfrm>
            <a:off x="6306207" y="3005597"/>
            <a:ext cx="1170821" cy="1112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35">
            <a:extLst>
              <a:ext uri="{FF2B5EF4-FFF2-40B4-BE49-F238E27FC236}">
                <a16:creationId xmlns:a16="http://schemas.microsoft.com/office/drawing/2014/main" id="{C6458336-73CF-3D70-50D4-2B18D2F33F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0647" y="5192438"/>
            <a:ext cx="2667737" cy="1476540"/>
          </a:xfrm>
          <a:prstGeom prst="rect">
            <a:avLst/>
          </a:prstGeom>
        </p:spPr>
      </p:pic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E6945798-DA38-5EEB-1982-840DDCC00EAD}"/>
              </a:ext>
            </a:extLst>
          </p:cNvPr>
          <p:cNvCxnSpPr>
            <a:cxnSpLocks/>
          </p:cNvCxnSpPr>
          <p:nvPr/>
        </p:nvCxnSpPr>
        <p:spPr>
          <a:xfrm>
            <a:off x="6016121" y="3355626"/>
            <a:ext cx="1198180" cy="2033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 39">
            <a:extLst>
              <a:ext uri="{FF2B5EF4-FFF2-40B4-BE49-F238E27FC236}">
                <a16:creationId xmlns:a16="http://schemas.microsoft.com/office/drawing/2014/main" id="{4888B346-E654-EEB9-B7FD-A92BA15C71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576" y="5207127"/>
            <a:ext cx="1067349" cy="1461851"/>
          </a:xfrm>
          <a:prstGeom prst="rect">
            <a:avLst/>
          </a:prstGeom>
        </p:spPr>
      </p:pic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C2B0879D-E12E-260C-3FF2-42AD7042F930}"/>
              </a:ext>
            </a:extLst>
          </p:cNvPr>
          <p:cNvCxnSpPr>
            <a:cxnSpLocks/>
          </p:cNvCxnSpPr>
          <p:nvPr/>
        </p:nvCxnSpPr>
        <p:spPr>
          <a:xfrm flipH="1">
            <a:off x="3203553" y="4487520"/>
            <a:ext cx="1942312" cy="1379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Image 45">
            <a:extLst>
              <a:ext uri="{FF2B5EF4-FFF2-40B4-BE49-F238E27FC236}">
                <a16:creationId xmlns:a16="http://schemas.microsoft.com/office/drawing/2014/main" id="{FDD039F3-6A06-00FE-4DB4-D4135F5BF9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6451" y="5389344"/>
            <a:ext cx="2252563" cy="1132241"/>
          </a:xfrm>
          <a:prstGeom prst="rect">
            <a:avLst/>
          </a:prstGeom>
        </p:spPr>
      </p:pic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7A9669EC-2466-2AE3-F015-61F2B48DB12D}"/>
              </a:ext>
            </a:extLst>
          </p:cNvPr>
          <p:cNvCxnSpPr>
            <a:cxnSpLocks/>
          </p:cNvCxnSpPr>
          <p:nvPr/>
        </p:nvCxnSpPr>
        <p:spPr>
          <a:xfrm flipH="1">
            <a:off x="4981903" y="3835243"/>
            <a:ext cx="429141" cy="2056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Image 49">
            <a:extLst>
              <a:ext uri="{FF2B5EF4-FFF2-40B4-BE49-F238E27FC236}">
                <a16:creationId xmlns:a16="http://schemas.microsoft.com/office/drawing/2014/main" id="{A44B2C01-2A6D-86FE-62AF-7CF71F91A1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7728" y="4318629"/>
            <a:ext cx="1343300" cy="829342"/>
          </a:xfrm>
          <a:prstGeom prst="rect">
            <a:avLst/>
          </a:prstGeom>
        </p:spPr>
      </p:pic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76CDB56E-94E9-DC14-720E-596DA0B1C9EC}"/>
              </a:ext>
            </a:extLst>
          </p:cNvPr>
          <p:cNvCxnSpPr>
            <a:cxnSpLocks/>
          </p:cNvCxnSpPr>
          <p:nvPr/>
        </p:nvCxnSpPr>
        <p:spPr>
          <a:xfrm>
            <a:off x="6106135" y="4748884"/>
            <a:ext cx="15883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4D41A-F622-5C57-9ED1-F46253A0C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C08C-40C3-3A59-C7CB-154D32D4A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8" y="75398"/>
            <a:ext cx="7055380" cy="435405"/>
          </a:xfrm>
        </p:spPr>
        <p:txBody>
          <a:bodyPr/>
          <a:lstStyle/>
          <a:p>
            <a:r>
              <a:rPr dirty="0"/>
              <a:t>Blueprint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89C8B80-9B76-1E9D-7F56-C847849FD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36" y="1127209"/>
            <a:ext cx="6668078" cy="36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09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83C71-A65A-292D-0D6A-D95AB6ECD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C71A8-9F8A-37DA-A26E-27EC72FB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8" y="75398"/>
            <a:ext cx="7055380" cy="435405"/>
          </a:xfrm>
        </p:spPr>
        <p:txBody>
          <a:bodyPr/>
          <a:lstStyle/>
          <a:p>
            <a:r>
              <a:rPr dirty="0"/>
              <a:t>Blueprint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C6B0B25-1FC9-20D9-2384-8E5441130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088" y="1145391"/>
            <a:ext cx="1438576" cy="170974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CC9E511-EEE5-BD66-EB3F-3992C8356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18" y="1145391"/>
            <a:ext cx="6668078" cy="282751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723B1F6-8415-28A9-DDC4-CA80FEFF8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87066"/>
            <a:ext cx="2042658" cy="120877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BF44410-CCA3-DDBA-9490-6326A0F0F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41" y="5457628"/>
            <a:ext cx="2514775" cy="1310850"/>
          </a:xfrm>
          <a:prstGeom prst="rect">
            <a:avLst/>
          </a:prstGeom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0EFDFE49-FDB9-F99E-316D-8344C6FA8A7E}"/>
              </a:ext>
            </a:extLst>
          </p:cNvPr>
          <p:cNvCxnSpPr>
            <a:cxnSpLocks/>
          </p:cNvCxnSpPr>
          <p:nvPr/>
        </p:nvCxnSpPr>
        <p:spPr>
          <a:xfrm flipH="1">
            <a:off x="1515636" y="2263928"/>
            <a:ext cx="16772" cy="2730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9DB2EBE2-C86B-B79F-E717-0C47BE714727}"/>
              </a:ext>
            </a:extLst>
          </p:cNvPr>
          <p:cNvCxnSpPr>
            <a:cxnSpLocks/>
          </p:cNvCxnSpPr>
          <p:nvPr/>
        </p:nvCxnSpPr>
        <p:spPr>
          <a:xfrm>
            <a:off x="6173766" y="1475055"/>
            <a:ext cx="1797280" cy="1129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AD643EB9-F748-AC5F-2ED8-D4883FD6D793}"/>
              </a:ext>
            </a:extLst>
          </p:cNvPr>
          <p:cNvCxnSpPr>
            <a:cxnSpLocks/>
          </p:cNvCxnSpPr>
          <p:nvPr/>
        </p:nvCxnSpPr>
        <p:spPr>
          <a:xfrm>
            <a:off x="1834882" y="2263928"/>
            <a:ext cx="454892" cy="3525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 21">
            <a:extLst>
              <a:ext uri="{FF2B5EF4-FFF2-40B4-BE49-F238E27FC236}">
                <a16:creationId xmlns:a16="http://schemas.microsoft.com/office/drawing/2014/main" id="{6AB74B1F-CBD1-8C50-3CFF-4AE122A1E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0511" y="4302574"/>
            <a:ext cx="5776710" cy="2411784"/>
          </a:xfrm>
          <a:prstGeom prst="rect">
            <a:avLst/>
          </a:prstGeom>
        </p:spPr>
      </p:pic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B6F26702-E46B-2CC9-27C7-25748785DA6D}"/>
              </a:ext>
            </a:extLst>
          </p:cNvPr>
          <p:cNvCxnSpPr>
            <a:cxnSpLocks/>
          </p:cNvCxnSpPr>
          <p:nvPr/>
        </p:nvCxnSpPr>
        <p:spPr>
          <a:xfrm flipH="1">
            <a:off x="4653981" y="2934127"/>
            <a:ext cx="614260" cy="2855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410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ED5D9-DFC3-94B5-0528-871BFE8B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65E9-2B36-949B-9661-2BAE1C64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8" y="75398"/>
            <a:ext cx="7055380" cy="435405"/>
          </a:xfrm>
        </p:spPr>
        <p:txBody>
          <a:bodyPr/>
          <a:lstStyle/>
          <a:p>
            <a:r>
              <a:rPr dirty="0"/>
              <a:t>Blueprint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A449502-F7A5-6574-FFA2-2A6AAE0D5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8" y="1885556"/>
            <a:ext cx="8021681" cy="358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70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7CCF-8F91-1253-5FCD-4EE72533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D9A7-2C7D-A49A-24A6-ADE48057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8" y="75398"/>
            <a:ext cx="7055380" cy="435405"/>
          </a:xfrm>
        </p:spPr>
        <p:txBody>
          <a:bodyPr/>
          <a:lstStyle/>
          <a:p>
            <a:r>
              <a:rPr lang="fr-FR" sz="2400" dirty="0"/>
              <a:t>En quoi les vues répondent aux 3 domaines ?</a:t>
            </a:r>
            <a:endParaRPr sz="24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4C2AD2E-FBB5-6A37-645C-0662BF523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87" y="1144464"/>
            <a:ext cx="4723094" cy="290412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241296E-B30E-7D2C-1210-AF1100801CE5}"/>
              </a:ext>
            </a:extLst>
          </p:cNvPr>
          <p:cNvSpPr txBox="1">
            <a:spLocks/>
          </p:cNvSpPr>
          <p:nvPr/>
        </p:nvSpPr>
        <p:spPr>
          <a:xfrm>
            <a:off x="290086" y="837728"/>
            <a:ext cx="7055380" cy="4354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1400" dirty="0"/>
              <a:t>Vue mondiale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7B5B4C2-59D8-BF7C-9A4A-478C692D47CE}"/>
              </a:ext>
            </a:extLst>
          </p:cNvPr>
          <p:cNvSpPr txBox="1">
            <a:spLocks/>
          </p:cNvSpPr>
          <p:nvPr/>
        </p:nvSpPr>
        <p:spPr>
          <a:xfrm>
            <a:off x="290086" y="4222892"/>
            <a:ext cx="7055380" cy="15472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1400" dirty="0"/>
              <a:t>Domaine 1 : filtre sur la granularité + filtre sur le taux d’accès à l’eau</a:t>
            </a:r>
          </a:p>
          <a:p>
            <a:r>
              <a:rPr lang="fr-FR" sz="1400" dirty="0"/>
              <a:t>Domaine 2 : Filtre sur l’accès à l’eau potable / eau sure </a:t>
            </a:r>
          </a:p>
          <a:p>
            <a:r>
              <a:rPr lang="fr-FR" sz="1400" dirty="0"/>
              <a:t>Domaine 3 : Filtre sur le taux de mortalité, eau potable et stabilité politique</a:t>
            </a:r>
          </a:p>
          <a:p>
            <a:r>
              <a:rPr lang="fr-F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5747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4F84-94A7-989B-F1F3-30B5B004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DF198-E724-2365-B7D0-EDD504E14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8" y="75398"/>
            <a:ext cx="7055380" cy="435405"/>
          </a:xfrm>
        </p:spPr>
        <p:txBody>
          <a:bodyPr/>
          <a:lstStyle/>
          <a:p>
            <a:r>
              <a:rPr lang="fr-FR" sz="2400" dirty="0"/>
              <a:t>En quoi les vues répondent aux 3 domaines ?</a:t>
            </a:r>
            <a:endParaRPr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C3D546C-A27A-92A3-3473-1CFC6F132BD0}"/>
              </a:ext>
            </a:extLst>
          </p:cNvPr>
          <p:cNvSpPr txBox="1">
            <a:spLocks/>
          </p:cNvSpPr>
          <p:nvPr/>
        </p:nvSpPr>
        <p:spPr>
          <a:xfrm>
            <a:off x="290086" y="837728"/>
            <a:ext cx="7055380" cy="4354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1400" dirty="0"/>
              <a:t>Vue continentale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01BE57-3418-6E7A-D968-4BD7993CCCF2}"/>
              </a:ext>
            </a:extLst>
          </p:cNvPr>
          <p:cNvSpPr txBox="1">
            <a:spLocks/>
          </p:cNvSpPr>
          <p:nvPr/>
        </p:nvSpPr>
        <p:spPr>
          <a:xfrm>
            <a:off x="290086" y="4222892"/>
            <a:ext cx="7055380" cy="15472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1400" dirty="0"/>
              <a:t>Domaine 1 : Jauge</a:t>
            </a:r>
          </a:p>
          <a:p>
            <a:r>
              <a:rPr lang="fr-FR" sz="1400" dirty="0"/>
              <a:t>Domaine 2 : Graphique à barres groupés</a:t>
            </a:r>
          </a:p>
          <a:p>
            <a:r>
              <a:rPr lang="fr-FR" sz="1400" dirty="0"/>
              <a:t>Domaine 3 : Nuage de points</a:t>
            </a:r>
          </a:p>
          <a:p>
            <a:r>
              <a:rPr lang="fr-FR" sz="1400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30EF43E-0345-7D37-2657-B3F6409FF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96" y="1287426"/>
            <a:ext cx="5336316" cy="26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32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9099-FA6F-E3C5-A36B-72BAD8127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47C7D-CBF8-00DD-27AA-0438A795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8" y="75398"/>
            <a:ext cx="7055380" cy="435405"/>
          </a:xfrm>
        </p:spPr>
        <p:txBody>
          <a:bodyPr/>
          <a:lstStyle/>
          <a:p>
            <a:r>
              <a:rPr lang="fr-FR" sz="2400" dirty="0"/>
              <a:t>En quoi les vues répondent aux 3 domaines ?</a:t>
            </a:r>
            <a:endParaRPr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1242389-1B33-AC1E-825C-0ED65DC25A66}"/>
              </a:ext>
            </a:extLst>
          </p:cNvPr>
          <p:cNvSpPr txBox="1">
            <a:spLocks/>
          </p:cNvSpPr>
          <p:nvPr/>
        </p:nvSpPr>
        <p:spPr>
          <a:xfrm>
            <a:off x="290086" y="837728"/>
            <a:ext cx="7055380" cy="4354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1400" dirty="0"/>
              <a:t>Vue nationale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D2D2804-84E7-757D-F18E-A4096D97E11A}"/>
              </a:ext>
            </a:extLst>
          </p:cNvPr>
          <p:cNvSpPr txBox="1">
            <a:spLocks/>
          </p:cNvSpPr>
          <p:nvPr/>
        </p:nvSpPr>
        <p:spPr>
          <a:xfrm>
            <a:off x="290086" y="4222892"/>
            <a:ext cx="7055380" cy="15472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1400" dirty="0"/>
              <a:t>Domaine 1 : Jauge</a:t>
            </a:r>
          </a:p>
          <a:p>
            <a:r>
              <a:rPr lang="fr-FR" sz="1400" dirty="0"/>
              <a:t>Domaine 2 : Jauge</a:t>
            </a:r>
          </a:p>
          <a:p>
            <a:r>
              <a:rPr lang="fr-FR" sz="1400" dirty="0"/>
              <a:t>Domaine 3 : Jauge + indicateur stabilité politique + indicateur de taux de mortalité</a:t>
            </a:r>
          </a:p>
          <a:p>
            <a:r>
              <a:rPr lang="fr-FR" sz="1400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7879CA-1B86-2BAD-3A6A-91F7035C7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86" y="1135470"/>
            <a:ext cx="5316132" cy="299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32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480" y="438777"/>
            <a:ext cx="7889933" cy="1400530"/>
          </a:xfrm>
        </p:spPr>
        <p:txBody>
          <a:bodyPr/>
          <a:lstStyle/>
          <a:p>
            <a:r>
              <a:rPr dirty="0" err="1"/>
              <a:t>Outil</a:t>
            </a:r>
            <a:r>
              <a:rPr dirty="0"/>
              <a:t> de </a:t>
            </a:r>
            <a:r>
              <a:rPr dirty="0" err="1"/>
              <a:t>visualisation</a:t>
            </a:r>
            <a:r>
              <a:rPr dirty="0"/>
              <a:t> </a:t>
            </a:r>
            <a:r>
              <a:rPr dirty="0" err="1"/>
              <a:t>retenu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Outil</a:t>
            </a:r>
            <a:r>
              <a:rPr dirty="0"/>
              <a:t> </a:t>
            </a:r>
            <a:r>
              <a:rPr dirty="0" err="1"/>
              <a:t>choisi</a:t>
            </a:r>
            <a:r>
              <a:rPr dirty="0"/>
              <a:t> : Power BI</a:t>
            </a:r>
          </a:p>
          <a:p>
            <a:r>
              <a:rPr dirty="0" err="1"/>
              <a:t>Gratuit</a:t>
            </a:r>
            <a:r>
              <a:rPr dirty="0"/>
              <a:t> </a:t>
            </a:r>
            <a:endParaRPr lang="fr-FR" dirty="0"/>
          </a:p>
          <a:p>
            <a:r>
              <a:rPr dirty="0"/>
              <a:t>Support des </a:t>
            </a:r>
            <a:r>
              <a:rPr dirty="0" err="1"/>
              <a:t>cartes</a:t>
            </a:r>
            <a:r>
              <a:rPr dirty="0"/>
              <a:t> et </a:t>
            </a:r>
            <a:r>
              <a:rPr dirty="0" err="1"/>
              <a:t>filtres</a:t>
            </a:r>
            <a:r>
              <a:rPr dirty="0"/>
              <a:t> </a:t>
            </a:r>
            <a:r>
              <a:rPr dirty="0" err="1"/>
              <a:t>interactif</a:t>
            </a:r>
            <a:r>
              <a:rPr lang="fr-FR" dirty="0"/>
              <a:t>s</a:t>
            </a:r>
          </a:p>
          <a:p>
            <a:r>
              <a:rPr lang="fr-FR" dirty="0"/>
              <a:t>Aucun coût pour l’analyse en local</a:t>
            </a:r>
          </a:p>
          <a:p>
            <a:r>
              <a:rPr lang="fr-FR" dirty="0"/>
              <a:t>Possibilité de publier en ligne avec un compte pro si besoin</a:t>
            </a:r>
          </a:p>
          <a:p>
            <a:r>
              <a:rPr lang="fr-FR" dirty="0"/>
              <a:t>Interface intuitive </a:t>
            </a:r>
          </a:p>
          <a:p>
            <a:pPr lvl="1"/>
            <a:r>
              <a:rPr lang="fr-FR" dirty="0"/>
              <a:t>prise en main rapide </a:t>
            </a:r>
          </a:p>
          <a:p>
            <a:pPr lvl="1"/>
            <a:r>
              <a:rPr lang="fr-FR" dirty="0"/>
              <a:t>Bonne lisibilité des tableaux et graphiques</a:t>
            </a:r>
          </a:p>
          <a:p>
            <a:pPr lvl="1"/>
            <a:r>
              <a:rPr lang="fr-FR" dirty="0"/>
              <a:t>Adapté à un public non technique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7911" y="2728735"/>
            <a:ext cx="4888178" cy="1400530"/>
          </a:xfrm>
        </p:spPr>
        <p:txBody>
          <a:bodyPr/>
          <a:lstStyle/>
          <a:p>
            <a:r>
              <a:rPr lang="fr-FR" b="1" dirty="0"/>
              <a:t>DEMONSTRATION</a:t>
            </a:r>
            <a:endParaRPr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137</TotalTime>
  <Words>425</Words>
  <Application>Microsoft Office PowerPoint</Application>
  <PresentationFormat>Affichage à l'écran (4:3)</PresentationFormat>
  <Paragraphs>76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Century Gothic</vt:lpstr>
      <vt:lpstr>Wingdings 3</vt:lpstr>
      <vt:lpstr>Ion</vt:lpstr>
      <vt:lpstr>Projet Data Analyst – DWFA</vt:lpstr>
      <vt:lpstr>Contexte</vt:lpstr>
      <vt:lpstr>Prétraitement des données</vt:lpstr>
      <vt:lpstr>Prétraitement des données</vt:lpstr>
      <vt:lpstr>Prétraitement des données</vt:lpstr>
      <vt:lpstr>Prétraitement des données</vt:lpstr>
      <vt:lpstr>Prétraitement des données</vt:lpstr>
      <vt:lpstr>Blueprint</vt:lpstr>
      <vt:lpstr>Blueprint</vt:lpstr>
      <vt:lpstr>Blueprint</vt:lpstr>
      <vt:lpstr>Blueprint</vt:lpstr>
      <vt:lpstr>Blueprint</vt:lpstr>
      <vt:lpstr>En quoi les vues répondent aux 3 domaines ?</vt:lpstr>
      <vt:lpstr>En quoi les vues répondent aux 3 domaines ?</vt:lpstr>
      <vt:lpstr>En quoi les vues répondent aux 3 domaines ?</vt:lpstr>
      <vt:lpstr>Outil de visualisation retenu</vt:lpstr>
      <vt:lpstr>DEMONSTRATION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Kévin Papama</cp:lastModifiedBy>
  <cp:revision>32</cp:revision>
  <dcterms:created xsi:type="dcterms:W3CDTF">2013-01-27T09:14:16Z</dcterms:created>
  <dcterms:modified xsi:type="dcterms:W3CDTF">2025-07-26T06:47:04Z</dcterms:modified>
  <cp:category/>
</cp:coreProperties>
</file>