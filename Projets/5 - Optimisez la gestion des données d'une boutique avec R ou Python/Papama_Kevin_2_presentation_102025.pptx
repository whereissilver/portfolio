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20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e8b992f38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e8b992f38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e8b992f38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e8b992f38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e8b992f38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e8b992f38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e8b992f38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e8b992f38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e8b992f38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e8b992f38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e8b992f38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e8b992f38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e8b992f38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e8b992f38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e8b992f38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9e8b992f38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e8b992f38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9e8b992f38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e8b992f38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9e8b992f38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e8b992f38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9e8b992f38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1b00f182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a1b00f182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e8b992f38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9e8b992f38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0ea2be25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a0ea2be25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e8b992f38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9e8b992f38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e8b992f38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9e8b992f38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e8b992f38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9e8b992f38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9e8b992f38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9e8b992f38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1b00f182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1b00f182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fr" sz="3100"/>
              <a:t>Bottleneck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1700"/>
              <a:t>Présentation pour le CODIR</a:t>
            </a:r>
            <a:endParaRPr sz="17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Présenté par Kévin PAPAMA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500"/>
              <a:t>SOMMAIRE</a:t>
            </a:r>
            <a:endParaRPr b="1" sz="3500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407450"/>
            <a:ext cx="7038900" cy="21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fr" sz="2000"/>
              <a:t>N</a:t>
            </a:r>
            <a:r>
              <a:rPr lang="fr" sz="2000"/>
              <a:t>ettoyages et consolidations des données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fr" sz="2000"/>
              <a:t>Analyses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fr" sz="2000"/>
              <a:t>Recommandations pour la mise en place de l’ERP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" sz="2000">
                <a:latin typeface="Lato"/>
                <a:ea typeface="Lato"/>
                <a:cs typeface="Lato"/>
                <a:sym typeface="Lato"/>
              </a:rPr>
              <a:t>Nettoyages et consolidations des données</a:t>
            </a:r>
            <a:endParaRPr b="1"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=&gt; Nettoyage du fichier “erp.</a:t>
            </a:r>
            <a:r>
              <a:rPr lang="fr"/>
              <a:t>xlsx</a:t>
            </a:r>
            <a:r>
              <a:rPr lang="fr"/>
              <a:t>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Composé de 6 colonnes et 825 lignes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7899" y="1567561"/>
            <a:ext cx="3757275" cy="241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000" y="2960175"/>
            <a:ext cx="4317775" cy="162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/>
          <p:nvPr/>
        </p:nvSpPr>
        <p:spPr>
          <a:xfrm>
            <a:off x="4202800" y="1623700"/>
            <a:ext cx="502800" cy="24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2456050" y="2364725"/>
            <a:ext cx="277800" cy="436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Correction et anomalies</a:t>
            </a:r>
            <a:endParaRPr/>
          </a:p>
        </p:txBody>
      </p:sp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colonne stock_status est il saisit manuellement ? ou problème de paramètrage 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Colonne stock status retravaillé 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6500" y="1963850"/>
            <a:ext cx="6224250" cy="141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/>
          <p:nvPr/>
        </p:nvSpPr>
        <p:spPr>
          <a:xfrm>
            <a:off x="4632875" y="1963850"/>
            <a:ext cx="867000" cy="1598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Éléments</a:t>
            </a:r>
            <a:r>
              <a:rPr lang="fr"/>
              <a:t> à corriger/surveiller</a:t>
            </a:r>
            <a:endParaRPr/>
          </a:p>
        </p:txBody>
      </p:sp>
      <p:sp>
        <p:nvSpPr>
          <p:cNvPr id="165" name="Google Shape;165;p17"/>
          <p:cNvSpPr txBox="1"/>
          <p:nvPr>
            <p:ph idx="1" type="body"/>
          </p:nvPr>
        </p:nvSpPr>
        <p:spPr>
          <a:xfrm>
            <a:off x="1357050" y="1149800"/>
            <a:ext cx="7038900" cy="9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⚠️ </a:t>
            </a:r>
            <a:r>
              <a:rPr lang="fr"/>
              <a:t>Prix négatifs 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⚠️ </a:t>
            </a:r>
            <a:r>
              <a:rPr lang="fr"/>
              <a:t>Stocks négatifs !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⚠️ </a:t>
            </a:r>
            <a:r>
              <a:rPr lang="fr"/>
              <a:t>Prix d’achats &gt; Prix de ventes</a:t>
            </a:r>
            <a:endParaRPr/>
          </a:p>
        </p:txBody>
      </p:sp>
      <p:pic>
        <p:nvPicPr>
          <p:cNvPr id="166" name="Google Shape;16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050" y="2338250"/>
            <a:ext cx="4878225" cy="19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3846" y="1149800"/>
            <a:ext cx="5029151" cy="72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/>
          <p:nvPr/>
        </p:nvSpPr>
        <p:spPr>
          <a:xfrm>
            <a:off x="6207600" y="862800"/>
            <a:ext cx="900000" cy="1197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3097825" y="2265500"/>
            <a:ext cx="423600" cy="2209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" sz="2000">
                <a:latin typeface="Lato"/>
                <a:ea typeface="Lato"/>
                <a:cs typeface="Lato"/>
                <a:sym typeface="Lato"/>
              </a:rPr>
              <a:t>Nettoyages et consolidations des données</a:t>
            </a:r>
            <a:endParaRPr b="1"/>
          </a:p>
        </p:txBody>
      </p:sp>
      <p:sp>
        <p:nvSpPr>
          <p:cNvPr id="175" name="Google Shape;17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=&gt; Nettoyage du fichier “web.xlsx”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Composé de 29 colonnes et 1513 lignes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4202800" y="1623700"/>
            <a:ext cx="502800" cy="24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7" name="Google Shape;17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2725" y="928950"/>
            <a:ext cx="3020516" cy="365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Correction et anomalies</a:t>
            </a:r>
            <a:endParaRPr/>
          </a:p>
        </p:txBody>
      </p:sp>
      <p:sp>
        <p:nvSpPr>
          <p:cNvPr id="183" name="Google Shape;183;p19"/>
          <p:cNvSpPr txBox="1"/>
          <p:nvPr>
            <p:ph idx="1" type="body"/>
          </p:nvPr>
        </p:nvSpPr>
        <p:spPr>
          <a:xfrm>
            <a:off x="1297500" y="1206850"/>
            <a:ext cx="7038900" cy="32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Filtre sur post_type “product” 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⚠️ </a:t>
            </a:r>
            <a:r>
              <a:rPr lang="fr"/>
              <a:t>Des sku null retiré par la suite mais à surveiller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Colonnes que j’ai gardé : sku, total_sales, product_type, post_title</a:t>
            </a:r>
            <a:endParaRPr/>
          </a:p>
        </p:txBody>
      </p:sp>
      <p:pic>
        <p:nvPicPr>
          <p:cNvPr id="184" name="Google Shape;1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1000" y="659125"/>
            <a:ext cx="2794850" cy="394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/>
          <p:nvPr/>
        </p:nvSpPr>
        <p:spPr>
          <a:xfrm>
            <a:off x="4242500" y="1266400"/>
            <a:ext cx="1786500" cy="24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6" name="Google Shape;18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4475" y="2498949"/>
            <a:ext cx="4591825" cy="115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/>
          <p:nvPr/>
        </p:nvSpPr>
        <p:spPr>
          <a:xfrm>
            <a:off x="2846425" y="1981125"/>
            <a:ext cx="277800" cy="363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" sz="2000">
                <a:latin typeface="Lato"/>
                <a:ea typeface="Lato"/>
                <a:cs typeface="Lato"/>
                <a:sym typeface="Lato"/>
              </a:rPr>
              <a:t>Nettoyages et consolidations des données</a:t>
            </a:r>
            <a:endParaRPr b="1"/>
          </a:p>
        </p:txBody>
      </p:sp>
      <p:sp>
        <p:nvSpPr>
          <p:cNvPr id="193" name="Google Shape;193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=&gt; Nettoyage du fichier “web.xlsx”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Composé de 2 colonnes et 825 lignes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Suppression des id_web null 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4202800" y="1623700"/>
            <a:ext cx="502800" cy="24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5" name="Google Shape;1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0588" y="1485750"/>
            <a:ext cx="3781425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7500" y="3240500"/>
            <a:ext cx="4114800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/>
          <p:nvPr/>
        </p:nvSpPr>
        <p:spPr>
          <a:xfrm>
            <a:off x="2482500" y="2755100"/>
            <a:ext cx="251400" cy="377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En ce qui concerne de la jonction entre les fichiers</a:t>
            </a:r>
            <a:endParaRPr/>
          </a:p>
        </p:txBody>
      </p:sp>
      <p:sp>
        <p:nvSpPr>
          <p:cNvPr id="203" name="Google Shape;203;p21"/>
          <p:cNvSpPr txBox="1"/>
          <p:nvPr>
            <p:ph idx="1" type="body"/>
          </p:nvPr>
        </p:nvSpPr>
        <p:spPr>
          <a:xfrm>
            <a:off x="1237950" y="12698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erp vers liaison (left -join)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Anomalies sur onsale_web ⚠️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 </a:t>
            </a:r>
            <a:endParaRPr/>
          </a:p>
        </p:txBody>
      </p:sp>
      <p:pic>
        <p:nvPicPr>
          <p:cNvPr id="204" name="Google Shape;2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0300" y="1089525"/>
            <a:ext cx="1856863" cy="9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/>
          <p:nvPr/>
        </p:nvSpPr>
        <p:spPr>
          <a:xfrm>
            <a:off x="3362500" y="1345800"/>
            <a:ext cx="681600" cy="16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7500" y="2457375"/>
            <a:ext cx="4202125" cy="255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/>
          <p:nvPr/>
        </p:nvSpPr>
        <p:spPr>
          <a:xfrm>
            <a:off x="2138450" y="2086850"/>
            <a:ext cx="211800" cy="258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1920100" y="2406300"/>
            <a:ext cx="430200" cy="2644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4096925" y="2410475"/>
            <a:ext cx="311100" cy="2644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8800" y="1083937"/>
            <a:ext cx="1762697" cy="99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/>
          <p:nvPr/>
        </p:nvSpPr>
        <p:spPr>
          <a:xfrm>
            <a:off x="6717075" y="1392100"/>
            <a:ext cx="264600" cy="21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En ce qui concerne de la jonction entre les fichiers</a:t>
            </a:r>
            <a:endParaRPr/>
          </a:p>
        </p:txBody>
      </p:sp>
      <p:sp>
        <p:nvSpPr>
          <p:cNvPr id="217" name="Google Shape;217;p22"/>
          <p:cNvSpPr txBox="1"/>
          <p:nvPr>
            <p:ph idx="1" type="body"/>
          </p:nvPr>
        </p:nvSpPr>
        <p:spPr>
          <a:xfrm>
            <a:off x="1237950" y="12698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merge vers web (left -join)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Anomalies sur onsale_web ⚠️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articles pas encore sur le web ? ou erreur de frappe 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 </a:t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3362500" y="1345800"/>
            <a:ext cx="681600" cy="16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6717075" y="1392100"/>
            <a:ext cx="264600" cy="21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0" name="Google Shape;2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4301" y="968562"/>
            <a:ext cx="1762700" cy="1227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9600" y="1028200"/>
            <a:ext cx="1762700" cy="113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925" y="2487725"/>
            <a:ext cx="4294750" cy="247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>
            <p:ph idx="1" type="body"/>
          </p:nvPr>
        </p:nvSpPr>
        <p:spPr>
          <a:xfrm>
            <a:off x="5361375" y="3208875"/>
            <a:ext cx="2976000" cy="1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articles pas encore sur le web ? ou erreur de frappe 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 </a:t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2085525" y="2086850"/>
            <a:ext cx="218400" cy="304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" sz="2000">
                <a:latin typeface="Lato"/>
                <a:ea typeface="Lato"/>
                <a:cs typeface="Lato"/>
                <a:sym typeface="Lato"/>
              </a:rPr>
              <a:t>Analyses</a:t>
            </a:r>
            <a:endParaRPr b="1"/>
          </a:p>
        </p:txBody>
      </p:sp>
      <p:pic>
        <p:nvPicPr>
          <p:cNvPr id="230" name="Google Shape;2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375" y="2115075"/>
            <a:ext cx="7353301" cy="264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1297500" y="1425200"/>
            <a:ext cx="52668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Boite à moustache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>
            <p:ph type="title"/>
          </p:nvPr>
        </p:nvSpPr>
        <p:spPr>
          <a:xfrm>
            <a:off x="1297500" y="268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" sz="2000">
                <a:latin typeface="Lato"/>
                <a:ea typeface="Lato"/>
                <a:cs typeface="Lato"/>
                <a:sym typeface="Lato"/>
              </a:rPr>
              <a:t>Analyses</a:t>
            </a:r>
            <a:endParaRPr b="1"/>
          </a:p>
        </p:txBody>
      </p:sp>
      <p:sp>
        <p:nvSpPr>
          <p:cNvPr id="237" name="Google Shape;237;p24"/>
          <p:cNvSpPr txBox="1"/>
          <p:nvPr/>
        </p:nvSpPr>
        <p:spPr>
          <a:xfrm>
            <a:off x="1297500" y="474700"/>
            <a:ext cx="52668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Les articles outliers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8" name="Google Shape;238;p24"/>
          <p:cNvPicPr preferRelativeResize="0"/>
          <p:nvPr/>
        </p:nvPicPr>
        <p:blipFill rotWithShape="1">
          <a:blip r:embed="rId3">
            <a:alphaModFix/>
          </a:blip>
          <a:srcRect b="17033" l="0" r="10514" t="0"/>
          <a:stretch/>
        </p:blipFill>
        <p:spPr>
          <a:xfrm>
            <a:off x="1297499" y="880725"/>
            <a:ext cx="7370748" cy="219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7500" y="3191950"/>
            <a:ext cx="4013324" cy="182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/>
          <p:nvPr>
            <p:ph type="title"/>
          </p:nvPr>
        </p:nvSpPr>
        <p:spPr>
          <a:xfrm>
            <a:off x="1297500" y="268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" sz="2000">
                <a:latin typeface="Lato"/>
                <a:ea typeface="Lato"/>
                <a:cs typeface="Lato"/>
                <a:sym typeface="Lato"/>
              </a:rPr>
              <a:t>Analyses</a:t>
            </a:r>
            <a:endParaRPr b="1"/>
          </a:p>
        </p:txBody>
      </p:sp>
      <p:sp>
        <p:nvSpPr>
          <p:cNvPr id="245" name="Google Shape;245;p25"/>
          <p:cNvSpPr txBox="1"/>
          <p:nvPr/>
        </p:nvSpPr>
        <p:spPr>
          <a:xfrm>
            <a:off x="1297500" y="474700"/>
            <a:ext cx="52668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Erreurs de saisies ?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6" name="Google Shape;2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7400" y="292425"/>
            <a:ext cx="3704100" cy="438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" sz="2000">
                <a:latin typeface="Lato"/>
                <a:ea typeface="Lato"/>
                <a:cs typeface="Lato"/>
                <a:sym typeface="Lato"/>
              </a:rPr>
              <a:t>Analyses</a:t>
            </a:r>
            <a:endParaRPr b="1"/>
          </a:p>
        </p:txBody>
      </p:sp>
      <p:sp>
        <p:nvSpPr>
          <p:cNvPr id="252" name="Google Shape;252;p26"/>
          <p:cNvSpPr txBox="1"/>
          <p:nvPr/>
        </p:nvSpPr>
        <p:spPr>
          <a:xfrm>
            <a:off x="1269450" y="1034825"/>
            <a:ext cx="6049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 : 143 680 €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Proportion des articles représentant 80% du CA : 61%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3" name="Google Shape;253;p26" title="newplo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397875"/>
            <a:ext cx="7246776" cy="237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" sz="2000">
                <a:latin typeface="Lato"/>
                <a:ea typeface="Lato"/>
                <a:cs typeface="Lato"/>
                <a:sym typeface="Lato"/>
              </a:rPr>
              <a:t>Analyses</a:t>
            </a:r>
            <a:endParaRPr b="1"/>
          </a:p>
        </p:txBody>
      </p:sp>
      <p:sp>
        <p:nvSpPr>
          <p:cNvPr id="259" name="Google Shape;259;p27"/>
          <p:cNvSpPr txBox="1"/>
          <p:nvPr/>
        </p:nvSpPr>
        <p:spPr>
          <a:xfrm>
            <a:off x="1269450" y="1034825"/>
            <a:ext cx="60498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Proportion des articles représentant 80% des ventes en quantité : 61%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0" name="Google Shape;2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463749"/>
            <a:ext cx="6824475" cy="313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" sz="2000">
                <a:latin typeface="Lato"/>
                <a:ea typeface="Lato"/>
                <a:cs typeface="Lato"/>
                <a:sym typeface="Lato"/>
              </a:rPr>
              <a:t>Analyses</a:t>
            </a:r>
            <a:endParaRPr b="1"/>
          </a:p>
        </p:txBody>
      </p:sp>
      <p:sp>
        <p:nvSpPr>
          <p:cNvPr id="266" name="Google Shape;266;p28"/>
          <p:cNvSpPr txBox="1"/>
          <p:nvPr/>
        </p:nvSpPr>
        <p:spPr>
          <a:xfrm>
            <a:off x="1336700" y="3581800"/>
            <a:ext cx="7187700" cy="12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Valorisation du stock en euros : 277 305 euros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Nombre de produits en stock : 16 739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7" name="Google Shape;2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9325" y="892075"/>
            <a:ext cx="7142451" cy="2427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" sz="2000">
                <a:latin typeface="Lato"/>
                <a:ea typeface="Lato"/>
                <a:cs typeface="Lato"/>
                <a:sym typeface="Lato"/>
              </a:rPr>
              <a:t>Analyses</a:t>
            </a:r>
            <a:endParaRPr b="1"/>
          </a:p>
        </p:txBody>
      </p:sp>
      <p:sp>
        <p:nvSpPr>
          <p:cNvPr id="273" name="Google Shape;273;p29"/>
          <p:cNvSpPr txBox="1"/>
          <p:nvPr/>
        </p:nvSpPr>
        <p:spPr>
          <a:xfrm>
            <a:off x="1297500" y="1127450"/>
            <a:ext cx="5193900" cy="23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Taux  de marge minimum : 23%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Taux de marge maximum : 48%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74" name="Google Shape;27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075" y="1949225"/>
            <a:ext cx="7656899" cy="220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9"/>
          <p:cNvSpPr txBox="1"/>
          <p:nvPr/>
        </p:nvSpPr>
        <p:spPr>
          <a:xfrm>
            <a:off x="2473650" y="4561700"/>
            <a:ext cx="7521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⚠️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76" name="Google Shape;27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5950" y="4330077"/>
            <a:ext cx="4927726" cy="670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9"/>
          <p:cNvSpPr/>
          <p:nvPr/>
        </p:nvSpPr>
        <p:spPr>
          <a:xfrm>
            <a:off x="2936900" y="4703075"/>
            <a:ext cx="222600" cy="12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" sz="2000">
                <a:latin typeface="Lato"/>
                <a:ea typeface="Lato"/>
                <a:cs typeface="Lato"/>
                <a:sym typeface="Lato"/>
              </a:rPr>
              <a:t>Analyses</a:t>
            </a:r>
            <a:endParaRPr b="1"/>
          </a:p>
        </p:txBody>
      </p:sp>
      <p:pic>
        <p:nvPicPr>
          <p:cNvPr id="283" name="Google Shape;28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1250" y="1043150"/>
            <a:ext cx="3796051" cy="299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0"/>
          <p:cNvSpPr txBox="1"/>
          <p:nvPr/>
        </p:nvSpPr>
        <p:spPr>
          <a:xfrm>
            <a:off x="5162750" y="1139400"/>
            <a:ext cx="3862200" cy="22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stock_quantity vs total_sales : les produits avec plus de stock ont tendance à générer plus de ventes, mais ce n’est pas une relation très forte.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stock_quantity vs price : le prix n’a quasiment pas d’influence sur la quantité en stock.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total_sales vs price : les produits plus chers se vendent moins, ce qui est logique pour des biens de luxe ou premium (vins, spiritueux)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" sz="2000">
                <a:latin typeface="Lato"/>
                <a:ea typeface="Lato"/>
                <a:cs typeface="Lato"/>
                <a:sym typeface="Lato"/>
              </a:rPr>
              <a:t>Recommandations pour la mise en place de l’ERP</a:t>
            </a:r>
            <a:endParaRPr b="1"/>
          </a:p>
        </p:txBody>
      </p:sp>
      <p:sp>
        <p:nvSpPr>
          <p:cNvPr id="290" name="Google Shape;290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fr" sz="2100"/>
              <a:t>Revoir les produits qui doivent </a:t>
            </a:r>
            <a:r>
              <a:rPr lang="fr" sz="2100"/>
              <a:t>être</a:t>
            </a:r>
            <a:r>
              <a:rPr lang="fr" sz="2100"/>
              <a:t>/ou pas sur le site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fr" sz="2100"/>
              <a:t>Revoir l’automatisation du status stock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fr" sz="2100"/>
              <a:t>Revoir les prix d’achats vs prix de vente</a:t>
            </a:r>
            <a:endParaRPr sz="2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" sz="2000">
                <a:latin typeface="Lato"/>
                <a:ea typeface="Lato"/>
                <a:cs typeface="Lato"/>
                <a:sym typeface="Lato"/>
              </a:rPr>
              <a:t>Mes impressions</a:t>
            </a:r>
            <a:endParaRPr b="1"/>
          </a:p>
        </p:txBody>
      </p:sp>
      <p:sp>
        <p:nvSpPr>
          <p:cNvPr id="296" name="Google Shape;296;p32"/>
          <p:cNvSpPr txBox="1"/>
          <p:nvPr>
            <p:ph idx="1" type="body"/>
          </p:nvPr>
        </p:nvSpPr>
        <p:spPr>
          <a:xfrm>
            <a:off x="1297500" y="935900"/>
            <a:ext cx="7038900" cy="11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Qu’est-ce qui s’est bien passé 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La création de nouvelles colonnes (ex. Z-score, CA par article, valorisation du stock, taux de marge) s’est déroulée sans erreur majeure.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La détection des valeurs aberrantes avec le Z-score a bien mis en évidence les produits avec des prix atypiques.</a:t>
            </a:r>
            <a:endParaRPr/>
          </a:p>
        </p:txBody>
      </p:sp>
      <p:sp>
        <p:nvSpPr>
          <p:cNvPr id="297" name="Google Shape;297;p32"/>
          <p:cNvSpPr txBox="1"/>
          <p:nvPr>
            <p:ph idx="1" type="body"/>
          </p:nvPr>
        </p:nvSpPr>
        <p:spPr>
          <a:xfrm>
            <a:off x="1297500" y="2369650"/>
            <a:ext cx="7038900" cy="11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Qu’est-ce que j’ai trouvé le plus difficile ?</a:t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200"/>
              <a:t>La vérification de la cohérence des données entre plusieurs colonnes (prix, quantité, CA) pour détecter d’éventuelles erreurs de saisie.</a:t>
            </a:r>
            <a:endParaRPr sz="1200"/>
          </a:p>
        </p:txBody>
      </p:sp>
      <p:sp>
        <p:nvSpPr>
          <p:cNvPr id="298" name="Google Shape;298;p32"/>
          <p:cNvSpPr txBox="1"/>
          <p:nvPr>
            <p:ph idx="1" type="body"/>
          </p:nvPr>
        </p:nvSpPr>
        <p:spPr>
          <a:xfrm>
            <a:off x="1297500" y="3514625"/>
            <a:ext cx="7038900" cy="11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Sur quelles tâches j’ai eu besoin de plus d’entraînement ?</a:t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200"/>
              <a:t>Analyse statistique des données, pour mieux interpréter les corrélations, et les valeurs aberrantes.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